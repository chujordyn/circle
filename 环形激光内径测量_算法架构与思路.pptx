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241" autoAdjust="0"/>
  </p:normalViewPr>
  <p:slideViewPr>
    <p:cSldViewPr snapToGrid="0">
      <p:cViewPr varScale="1">
        <p:scale>
          <a:sx n="95" d="100"/>
          <a:sy n="95" d="100"/>
        </p:scale>
        <p:origin x="4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795DAA2-4910-4E2C-B658-5153F657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1DC2E54-AFC2-4A12-AA69-76B952A78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0EAB675-283E-4FC5-A2C2-20959F85F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9700DC3-1DFE-4CB8-993A-5FA431BD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0951343-ACC2-4AC4-913B-61E16266D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08A7FDC-F31B-41BF-9FDE-15ABBC28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B82601F-195A-4D3E-89E1-86F0D4C98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567DEC9-C7C9-4253-87AB-FA499F0E13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8916C15-2524-4943-B719-ADF4DC04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8D921E2-BFA8-4994-AB7E-B30BCEE86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72CD0F7-0889-4FCD-A5DA-8806771120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" r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1">
            <a:extLst>
              <a:ext uri="{FF2B5EF4-FFF2-40B4-BE49-F238E27FC236}">
                <a16:creationId xmlns:a16="http://schemas.microsoft.com/office/drawing/2014/main" id="{7226DABE-82C0-45C4-977B-1EE7F5E4E54B}"/>
              </a:ext>
            </a:extLst>
          </p:cNvPr>
          <p:cNvSpPr>
            <a:spLocks noGrp="1"/>
          </p:cNvSpPr>
          <p:nvPr/>
        </p:nvSpPr>
        <p:spPr>
          <a:xfrm>
            <a:off x="619125" y="552450"/>
            <a:ext cx="5953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2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ANNULAR LASER MEASUREMENT</a:t>
            </a:r>
          </a:p>
        </p:txBody>
      </p:sp>
      <p:sp>
        <p:nvSpPr>
          <p:cNvPr id="3" name="object-2">
            <a:extLst>
              <a:ext uri="{FF2B5EF4-FFF2-40B4-BE49-F238E27FC236}">
                <a16:creationId xmlns:a16="http://schemas.microsoft.com/office/drawing/2014/main" id="{A25C40DB-062C-4533-A38B-972FC540F312}"/>
              </a:ext>
            </a:extLst>
          </p:cNvPr>
          <p:cNvSpPr>
            <a:spLocks noGrp="1"/>
          </p:cNvSpPr>
          <p:nvPr/>
        </p:nvSpPr>
        <p:spPr>
          <a:xfrm>
            <a:off x="619125" y="1028700"/>
            <a:ext cx="6477000" cy="0"/>
          </a:xfrm>
          <a:prstGeom prst="line">
            <a:avLst/>
          </a:prstGeom>
          <a:noFill/>
          <a:ln w="9525">
            <a:solidFill>
              <a:srgbClr val="9BA9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E009025-40C4-4A74-BE07-2BDF8D40218F}"/>
              </a:ext>
            </a:extLst>
          </p:cNvPr>
          <p:cNvSpPr>
            <a:spLocks noGrp="1"/>
          </p:cNvSpPr>
          <p:nvPr/>
        </p:nvSpPr>
        <p:spPr>
          <a:xfrm>
            <a:off x="609600" y="1933575"/>
            <a:ext cx="6858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57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57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环形激光</a:t>
            </a:r>
          </a:p>
          <a:p>
            <a:pPr algn="l">
              <a:defRPr sz="57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内径测量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190AD86-9C9D-409B-8A0F-353074318897}"/>
              </a:ext>
            </a:extLst>
          </p:cNvPr>
          <p:cNvSpPr>
            <a:spLocks noGrp="1"/>
          </p:cNvSpPr>
          <p:nvPr/>
        </p:nvSpPr>
        <p:spPr>
          <a:xfrm>
            <a:off x="647700" y="3895725"/>
            <a:ext cx="666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625" b="0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625" b="0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算法架构与核心思路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59F031E-F044-4547-97D6-3898C399389B}"/>
              </a:ext>
            </a:extLst>
          </p:cNvPr>
          <p:cNvSpPr>
            <a:spLocks noGrp="1"/>
          </p:cNvSpPr>
          <p:nvPr/>
        </p:nvSpPr>
        <p:spPr>
          <a:xfrm>
            <a:off x="657225" y="619125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538119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3F5"/>
            </a:gs>
            <a:gs pos="100000">
              <a:srgbClr val="E3E9EE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3D9C06B-9000-4077-858F-FD36F0246E25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9267825" y="4752975"/>
            <a:ext cx="409575" cy="0"/>
          </a:xfrm>
          <a:prstGeom prst="straightConnector1">
            <a:avLst/>
          </a:prstGeom>
          <a:ln w="21908">
            <a:solidFill>
              <a:srgbClr val="087B97"/>
            </a:solidFill>
            <a:prstDash val="solid"/>
            <a:tailEnd type="triangle" w="sm" len="sm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E3003C6-4D55-4AAF-B483-72EF19FCE20A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7000875" y="4752975"/>
            <a:ext cx="409575" cy="0"/>
          </a:xfrm>
          <a:prstGeom prst="straightConnector1">
            <a:avLst/>
          </a:prstGeom>
          <a:ln w="21908">
            <a:solidFill>
              <a:srgbClr val="087B97"/>
            </a:solidFill>
            <a:prstDash val="solid"/>
            <a:tailEnd type="triangle" w="sm" len="sm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04DA65D-157C-47C0-9847-05E5CFDA9913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4733925" y="4752975"/>
            <a:ext cx="409575" cy="0"/>
          </a:xfrm>
          <a:prstGeom prst="straightConnector1">
            <a:avLst/>
          </a:prstGeom>
          <a:ln w="21908">
            <a:solidFill>
              <a:srgbClr val="087B97"/>
            </a:solidFill>
            <a:prstDash val="solid"/>
            <a:tailEnd type="triangle" w="sm" len="sm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F8472D8-E3FB-473C-9F12-A5FC41F6886B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2466975" y="4752975"/>
            <a:ext cx="409575" cy="0"/>
          </a:xfrm>
          <a:prstGeom prst="straightConnector1">
            <a:avLst/>
          </a:prstGeom>
          <a:ln w="21908">
            <a:solidFill>
              <a:srgbClr val="087B97"/>
            </a:solidFill>
            <a:prstDash val="solid"/>
            <a:tailEnd type="triangle" w="sm" len="sm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328528A-703D-475E-8AC2-A084DF0CBD80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9267825" y="2505075"/>
            <a:ext cx="409575" cy="0"/>
          </a:xfrm>
          <a:prstGeom prst="straightConnector1">
            <a:avLst/>
          </a:prstGeom>
          <a:ln w="21908">
            <a:solidFill>
              <a:srgbClr val="087B97"/>
            </a:solidFill>
            <a:prstDash val="solid"/>
            <a:tailEnd type="triangle" w="sm" len="sm"/>
          </a:ln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9B6A85D-AD63-4181-A81A-84CE737C74C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7000875" y="2505075"/>
            <a:ext cx="409575" cy="0"/>
          </a:xfrm>
          <a:prstGeom prst="straightConnector1">
            <a:avLst/>
          </a:prstGeom>
          <a:ln w="21908">
            <a:solidFill>
              <a:srgbClr val="087B97"/>
            </a:solidFill>
            <a:prstDash val="solid"/>
            <a:tailEnd type="triangle" w="sm" len="sm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00D72BB-D03A-452C-8FD1-DF82ABC1F6C0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4733925" y="2505075"/>
            <a:ext cx="409575" cy="0"/>
          </a:xfrm>
          <a:prstGeom prst="straightConnector1">
            <a:avLst/>
          </a:prstGeom>
          <a:ln w="21908">
            <a:solidFill>
              <a:srgbClr val="087B97"/>
            </a:solidFill>
            <a:prstDash val="solid"/>
            <a:tailEnd type="triangle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B591009-8F94-437A-B1F8-92837417188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466975" y="2505075"/>
            <a:ext cx="409575" cy="0"/>
          </a:xfrm>
          <a:prstGeom prst="straightConnector1">
            <a:avLst/>
          </a:prstGeom>
          <a:ln w="21908">
            <a:solidFill>
              <a:srgbClr val="087B97"/>
            </a:solidFill>
            <a:prstDash val="solid"/>
            <a:tailEnd type="triangle" w="sm" len="sm"/>
          </a:ln>
        </p:spPr>
      </p:cxnSp>
      <p:sp>
        <p:nvSpPr>
          <p:cNvPr id="36" name="text-7">
            <a:extLst>
              <a:ext uri="{FF2B5EF4-FFF2-40B4-BE49-F238E27FC236}">
                <a16:creationId xmlns:a16="http://schemas.microsoft.com/office/drawing/2014/main" id="{B3097CDA-9B24-442F-80DE-5043BC1C6FF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ANNULAR LASER MEASUREMENT</a:t>
            </a:r>
          </a:p>
        </p:txBody>
      </p:sp>
      <p:sp>
        <p:nvSpPr>
          <p:cNvPr id="2" name="object-8">
            <a:extLst>
              <a:ext uri="{FF2B5EF4-FFF2-40B4-BE49-F238E27FC236}">
                <a16:creationId xmlns:a16="http://schemas.microsoft.com/office/drawing/2014/main" id="{CE69F66E-A26C-4C56-AD97-F2720A3EDA6C}"/>
              </a:ext>
            </a:extLst>
          </p:cNvPr>
          <p:cNvSpPr>
            <a:spLocks noGrp="1"/>
          </p:cNvSpPr>
          <p:nvPr/>
        </p:nvSpPr>
        <p:spPr>
          <a:xfrm>
            <a:off x="4286250" y="447675"/>
            <a:ext cx="5857875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-9">
            <a:extLst>
              <a:ext uri="{FF2B5EF4-FFF2-40B4-BE49-F238E27FC236}">
                <a16:creationId xmlns:a16="http://schemas.microsoft.com/office/drawing/2014/main" id="{B11E7B2B-1DC1-45F2-AC7D-EE6BA3CD16CA}"/>
              </a:ext>
            </a:extLst>
          </p:cNvPr>
          <p:cNvSpPr>
            <a:spLocks noGrp="1"/>
          </p:cNvSpPr>
          <p:nvPr/>
        </p:nvSpPr>
        <p:spPr>
          <a:xfrm>
            <a:off x="10668000" y="29527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02 / 08</a:t>
            </a:r>
          </a:p>
        </p:txBody>
      </p:sp>
      <p:sp>
        <p:nvSpPr>
          <p:cNvPr id="4" name="text-10">
            <a:extLst>
              <a:ext uri="{FF2B5EF4-FFF2-40B4-BE49-F238E27FC236}">
                <a16:creationId xmlns:a16="http://schemas.microsoft.com/office/drawing/2014/main" id="{FF4FCC52-7B35-4317-8C6B-FC63097A461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整体算法架构</a:t>
            </a:r>
          </a:p>
        </p:txBody>
      </p:sp>
      <p:sp>
        <p:nvSpPr>
          <p:cNvPr id="5" name="text-11">
            <a:extLst>
              <a:ext uri="{FF2B5EF4-FFF2-40B4-BE49-F238E27FC236}">
                <a16:creationId xmlns:a16="http://schemas.microsoft.com/office/drawing/2014/main" id="{46B3D768-5586-40FE-A8E8-180571C0D62E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软件流程连接图像输入、中心线提取与标定几何计算</a:t>
            </a:r>
          </a:p>
        </p:txBody>
      </p:sp>
      <p:sp>
        <p:nvSpPr>
          <p:cNvPr id="6" name="object-12">
            <a:extLst>
              <a:ext uri="{FF2B5EF4-FFF2-40B4-BE49-F238E27FC236}">
                <a16:creationId xmlns:a16="http://schemas.microsoft.com/office/drawing/2014/main" id="{8A516397-9D4E-4FE0-B84B-BD110E703CF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13">
            <a:extLst>
              <a:ext uri="{FF2B5EF4-FFF2-40B4-BE49-F238E27FC236}">
                <a16:creationId xmlns:a16="http://schemas.microsoft.com/office/drawing/2014/main" id="{8284660B-22B1-4810-9FA8-AD65096F5A64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环形激光内径测量</a:t>
            </a:r>
          </a:p>
        </p:txBody>
      </p:sp>
      <p:sp>
        <p:nvSpPr>
          <p:cNvPr id="8" name="object-14">
            <a:extLst>
              <a:ext uri="{FF2B5EF4-FFF2-40B4-BE49-F238E27FC236}">
                <a16:creationId xmlns:a16="http://schemas.microsoft.com/office/drawing/2014/main" id="{B4E3151D-4A91-4B3A-B4CC-197CA966776D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857375" cy="66675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图像输入</a:t>
            </a:r>
          </a:p>
        </p:txBody>
      </p:sp>
      <p:sp>
        <p:nvSpPr>
          <p:cNvPr id="9" name="object-15">
            <a:extLst>
              <a:ext uri="{FF2B5EF4-FFF2-40B4-BE49-F238E27FC236}">
                <a16:creationId xmlns:a16="http://schemas.microsoft.com/office/drawing/2014/main" id="{ABCC14B1-A60D-496C-9916-4B86B991AAF0}"/>
              </a:ext>
            </a:extLst>
          </p:cNvPr>
          <p:cNvSpPr>
            <a:spLocks noGrp="1"/>
          </p:cNvSpPr>
          <p:nvPr/>
        </p:nvSpPr>
        <p:spPr>
          <a:xfrm>
            <a:off x="2876550" y="2171700"/>
            <a:ext cx="1857375" cy="66675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预处理</a:t>
            </a:r>
          </a:p>
        </p:txBody>
      </p:sp>
      <p:sp>
        <p:nvSpPr>
          <p:cNvPr id="10" name="object-16">
            <a:extLst>
              <a:ext uri="{FF2B5EF4-FFF2-40B4-BE49-F238E27FC236}">
                <a16:creationId xmlns:a16="http://schemas.microsoft.com/office/drawing/2014/main" id="{1AE8B3A0-8F92-4EA2-B06D-E68E9D355A2D}"/>
              </a:ext>
            </a:extLst>
          </p:cNvPr>
          <p:cNvSpPr>
            <a:spLocks noGrp="1"/>
          </p:cNvSpPr>
          <p:nvPr/>
        </p:nvSpPr>
        <p:spPr>
          <a:xfrm>
            <a:off x="5143500" y="2171700"/>
            <a:ext cx="1857375" cy="66675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中心线提取</a:t>
            </a:r>
          </a:p>
        </p:txBody>
      </p:sp>
      <p:sp>
        <p:nvSpPr>
          <p:cNvPr id="11" name="object-17">
            <a:extLst>
              <a:ext uri="{FF2B5EF4-FFF2-40B4-BE49-F238E27FC236}">
                <a16:creationId xmlns:a16="http://schemas.microsoft.com/office/drawing/2014/main" id="{0F12D092-1FDC-4E8C-BEB6-1CF4D864B038}"/>
              </a:ext>
            </a:extLst>
          </p:cNvPr>
          <p:cNvSpPr>
            <a:spLocks noGrp="1"/>
          </p:cNvSpPr>
          <p:nvPr/>
        </p:nvSpPr>
        <p:spPr>
          <a:xfrm>
            <a:off x="7410450" y="2171700"/>
            <a:ext cx="1857375" cy="66675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标定重建</a:t>
            </a:r>
          </a:p>
        </p:txBody>
      </p:sp>
      <p:sp>
        <p:nvSpPr>
          <p:cNvPr id="12" name="object-18">
            <a:extLst>
              <a:ext uri="{FF2B5EF4-FFF2-40B4-BE49-F238E27FC236}">
                <a16:creationId xmlns:a16="http://schemas.microsoft.com/office/drawing/2014/main" id="{057C0F14-BF0C-41A3-AC9F-719C0BA2AEAB}"/>
              </a:ext>
            </a:extLst>
          </p:cNvPr>
          <p:cNvSpPr>
            <a:spLocks noGrp="1"/>
          </p:cNvSpPr>
          <p:nvPr/>
        </p:nvSpPr>
        <p:spPr>
          <a:xfrm>
            <a:off x="9677400" y="2171700"/>
            <a:ext cx="1905000" cy="66675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几何拟合</a:t>
            </a:r>
          </a:p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内径与圆度</a:t>
            </a:r>
          </a:p>
        </p:txBody>
      </p:sp>
      <p:sp>
        <p:nvSpPr>
          <p:cNvPr id="19" name="object-21">
            <a:extLst>
              <a:ext uri="{FF2B5EF4-FFF2-40B4-BE49-F238E27FC236}">
                <a16:creationId xmlns:a16="http://schemas.microsoft.com/office/drawing/2014/main" id="{D2DF26B8-9124-4962-8C11-2BEA6060F08E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10972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-22">
            <a:extLst>
              <a:ext uri="{FF2B5EF4-FFF2-40B4-BE49-F238E27FC236}">
                <a16:creationId xmlns:a16="http://schemas.microsoft.com/office/drawing/2014/main" id="{77DB1E53-8FEC-436B-A5E5-E877A2ED4640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V5 中心线提取链路</a:t>
            </a:r>
          </a:p>
        </p:txBody>
      </p:sp>
      <p:sp>
        <p:nvSpPr>
          <p:cNvPr id="21" name="object-23">
            <a:extLst>
              <a:ext uri="{FF2B5EF4-FFF2-40B4-BE49-F238E27FC236}">
                <a16:creationId xmlns:a16="http://schemas.microsoft.com/office/drawing/2014/main" id="{2875781F-C073-4F5D-88E4-F1EE5B9C3323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857375" cy="72390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主条纹筛选</a:t>
            </a:r>
          </a:p>
        </p:txBody>
      </p:sp>
      <p:sp>
        <p:nvSpPr>
          <p:cNvPr id="22" name="object-24">
            <a:extLst>
              <a:ext uri="{FF2B5EF4-FFF2-40B4-BE49-F238E27FC236}">
                <a16:creationId xmlns:a16="http://schemas.microsoft.com/office/drawing/2014/main" id="{2814C2BF-EBEE-41DC-97D9-82CD72033717}"/>
              </a:ext>
            </a:extLst>
          </p:cNvPr>
          <p:cNvSpPr>
            <a:spLocks noGrp="1"/>
          </p:cNvSpPr>
          <p:nvPr/>
        </p:nvSpPr>
        <p:spPr>
          <a:xfrm>
            <a:off x="2876550" y="4391025"/>
            <a:ext cx="1857375" cy="72390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局部法线估计</a:t>
            </a:r>
          </a:p>
        </p:txBody>
      </p:sp>
      <p:sp>
        <p:nvSpPr>
          <p:cNvPr id="23" name="object-25">
            <a:extLst>
              <a:ext uri="{FF2B5EF4-FFF2-40B4-BE49-F238E27FC236}">
                <a16:creationId xmlns:a16="http://schemas.microsoft.com/office/drawing/2014/main" id="{0079F2B4-88A1-49E7-A888-CDD36FE18FF6}"/>
              </a:ext>
            </a:extLst>
          </p:cNvPr>
          <p:cNvSpPr>
            <a:spLocks noGrp="1"/>
          </p:cNvSpPr>
          <p:nvPr/>
        </p:nvSpPr>
        <p:spPr>
          <a:xfrm>
            <a:off x="5143500" y="4391025"/>
            <a:ext cx="1857375" cy="72390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法线灰度重心</a:t>
            </a:r>
          </a:p>
        </p:txBody>
      </p:sp>
      <p:sp>
        <p:nvSpPr>
          <p:cNvPr id="24" name="object-26">
            <a:extLst>
              <a:ext uri="{FF2B5EF4-FFF2-40B4-BE49-F238E27FC236}">
                <a16:creationId xmlns:a16="http://schemas.microsoft.com/office/drawing/2014/main" id="{0F9088A0-5C7A-40BE-BC0E-67D486774671}"/>
              </a:ext>
            </a:extLst>
          </p:cNvPr>
          <p:cNvSpPr>
            <a:spLocks noGrp="1"/>
          </p:cNvSpPr>
          <p:nvPr/>
        </p:nvSpPr>
        <p:spPr>
          <a:xfrm>
            <a:off x="7410450" y="4391025"/>
            <a:ext cx="1857375" cy="72390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Steger 精修</a:t>
            </a:r>
          </a:p>
        </p:txBody>
      </p:sp>
      <p:sp>
        <p:nvSpPr>
          <p:cNvPr id="25" name="object-27">
            <a:extLst>
              <a:ext uri="{FF2B5EF4-FFF2-40B4-BE49-F238E27FC236}">
                <a16:creationId xmlns:a16="http://schemas.microsoft.com/office/drawing/2014/main" id="{EBCA4188-3888-457D-B5CE-908A70A5A809}"/>
              </a:ext>
            </a:extLst>
          </p:cNvPr>
          <p:cNvSpPr>
            <a:spLocks noGrp="1"/>
          </p:cNvSpPr>
          <p:nvPr/>
        </p:nvSpPr>
        <p:spPr>
          <a:xfrm>
            <a:off x="9677400" y="4391025"/>
            <a:ext cx="1857375" cy="723900"/>
          </a:xfrm>
          <a:prstGeom prst="rect">
            <a:avLst/>
          </a:prstGeom>
          <a:solidFill>
            <a:srgbClr val="FAFCFD"/>
          </a:solidFill>
          <a:ln w="17145">
            <a:solidFill>
              <a:srgbClr val="087B97"/>
            </a:solidFill>
            <a:prstDash val="solid"/>
          </a:ln>
        </p:spPr>
        <p:txBody>
          <a:bodyPr lIns="47625" tIns="47625" rIns="47625" bIns="47625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质量判断</a:t>
            </a:r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9A41E9DA-22B0-44FA-AFC3-B3003560AA0B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1857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连续路径约束</a:t>
            </a:r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F50FAE46-8B8B-46B0-9F5A-82D29E3663FC}"/>
              </a:ext>
            </a:extLst>
          </p:cNvPr>
          <p:cNvSpPr>
            <a:spLocks noGrp="1"/>
          </p:cNvSpPr>
          <p:nvPr/>
        </p:nvSpPr>
        <p:spPr>
          <a:xfrm>
            <a:off x="2876550" y="5267325"/>
            <a:ext cx="1857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局部二次拟合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3A75B66D-0495-4F8D-AA3F-0AE20E4EB90F}"/>
              </a:ext>
            </a:extLst>
          </p:cNvPr>
          <p:cNvSpPr>
            <a:spLocks noGrp="1"/>
          </p:cNvSpPr>
          <p:nvPr/>
        </p:nvSpPr>
        <p:spPr>
          <a:xfrm>
            <a:off x="5143500" y="5267325"/>
            <a:ext cx="1857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亚像素粗定位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857A32ED-A7A8-4DF0-97EB-37A238D18CE3}"/>
              </a:ext>
            </a:extLst>
          </p:cNvPr>
          <p:cNvSpPr>
            <a:spLocks noGrp="1"/>
          </p:cNvSpPr>
          <p:nvPr/>
        </p:nvSpPr>
        <p:spPr>
          <a:xfrm>
            <a:off x="7410450" y="5267325"/>
            <a:ext cx="1857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Hessian / Taylor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B95B0EB0-2DD9-423E-A54E-93D8AA563729}"/>
              </a:ext>
            </a:extLst>
          </p:cNvPr>
          <p:cNvSpPr>
            <a:spLocks noGrp="1"/>
          </p:cNvSpPr>
          <p:nvPr/>
        </p:nvSpPr>
        <p:spPr>
          <a:xfrm>
            <a:off x="9677400" y="5267325"/>
            <a:ext cx="190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有效点与状态</a:t>
            </a:r>
          </a:p>
        </p:txBody>
      </p:sp>
    </p:spTree>
    <p:extLst>
      <p:ext uri="{BB962C8B-B14F-4D97-AF65-F5344CB8AC3E}">
        <p14:creationId xmlns:p14="http://schemas.microsoft.com/office/powerpoint/2010/main" val="141478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3F5"/>
            </a:gs>
            <a:gs pos="100000">
              <a:srgbClr val="E3E9EE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-34">
            <a:extLst>
              <a:ext uri="{FF2B5EF4-FFF2-40B4-BE49-F238E27FC236}">
                <a16:creationId xmlns:a16="http://schemas.microsoft.com/office/drawing/2014/main" id="{5ED4AA41-1B31-4DAC-969F-C7DCB9883ED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ANNULAR LASER MEASUREMENT</a:t>
            </a:r>
          </a:p>
        </p:txBody>
      </p:sp>
      <p:sp>
        <p:nvSpPr>
          <p:cNvPr id="2" name="object-35">
            <a:extLst>
              <a:ext uri="{FF2B5EF4-FFF2-40B4-BE49-F238E27FC236}">
                <a16:creationId xmlns:a16="http://schemas.microsoft.com/office/drawing/2014/main" id="{FD81693D-A318-4667-9E4C-091F384C1AA9}"/>
              </a:ext>
            </a:extLst>
          </p:cNvPr>
          <p:cNvSpPr>
            <a:spLocks noGrp="1"/>
          </p:cNvSpPr>
          <p:nvPr/>
        </p:nvSpPr>
        <p:spPr>
          <a:xfrm>
            <a:off x="4286250" y="447675"/>
            <a:ext cx="5857875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-36">
            <a:extLst>
              <a:ext uri="{FF2B5EF4-FFF2-40B4-BE49-F238E27FC236}">
                <a16:creationId xmlns:a16="http://schemas.microsoft.com/office/drawing/2014/main" id="{29B66845-392E-42C0-BD11-43531C76C62E}"/>
              </a:ext>
            </a:extLst>
          </p:cNvPr>
          <p:cNvSpPr>
            <a:spLocks noGrp="1"/>
          </p:cNvSpPr>
          <p:nvPr/>
        </p:nvSpPr>
        <p:spPr>
          <a:xfrm>
            <a:off x="10668000" y="29527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03 / 08</a:t>
            </a:r>
          </a:p>
        </p:txBody>
      </p:sp>
      <p:sp>
        <p:nvSpPr>
          <p:cNvPr id="4" name="text-37">
            <a:extLst>
              <a:ext uri="{FF2B5EF4-FFF2-40B4-BE49-F238E27FC236}">
                <a16:creationId xmlns:a16="http://schemas.microsoft.com/office/drawing/2014/main" id="{6ACDF07D-0794-4120-A180-88BAA0E2E2D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预处理与有效搜索区域</a:t>
            </a:r>
          </a:p>
        </p:txBody>
      </p:sp>
      <p:sp>
        <p:nvSpPr>
          <p:cNvPr id="5" name="text-38">
            <a:extLst>
              <a:ext uri="{FF2B5EF4-FFF2-40B4-BE49-F238E27FC236}">
                <a16:creationId xmlns:a16="http://schemas.microsoft.com/office/drawing/2014/main" id="{61507B67-578F-4805-B729-7271B308B1AF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先抑制背景，再约束中心线搜索范围</a:t>
            </a:r>
          </a:p>
        </p:txBody>
      </p:sp>
      <p:sp>
        <p:nvSpPr>
          <p:cNvPr id="6" name="object-39">
            <a:extLst>
              <a:ext uri="{FF2B5EF4-FFF2-40B4-BE49-F238E27FC236}">
                <a16:creationId xmlns:a16="http://schemas.microsoft.com/office/drawing/2014/main" id="{AEAA813C-1AB8-4E96-975A-3E4731894EF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40">
            <a:extLst>
              <a:ext uri="{FF2B5EF4-FFF2-40B4-BE49-F238E27FC236}">
                <a16:creationId xmlns:a16="http://schemas.microsoft.com/office/drawing/2014/main" id="{172C4F74-4CF4-40C0-88C8-92CE0733B241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环形激光内径测量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0C5A588-CA65-4E7A-9A6E-6FCC6C5199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61" b="25484"/>
          <a:stretch/>
        </p:blipFill>
        <p:spPr>
          <a:xfrm>
            <a:off x="609600" y="2276475"/>
            <a:ext cx="3476625" cy="1809750"/>
          </a:xfrm>
          <a:prstGeom prst="rect">
            <a:avLst/>
          </a:prstGeom>
        </p:spPr>
      </p:pic>
      <p:sp>
        <p:nvSpPr>
          <p:cNvPr id="9" name="text-41">
            <a:extLst>
              <a:ext uri="{FF2B5EF4-FFF2-40B4-BE49-F238E27FC236}">
                <a16:creationId xmlns:a16="http://schemas.microsoft.com/office/drawing/2014/main" id="{5E8A9FC1-4BDC-4ECA-8FB1-987EE17B2B45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3476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原始灰度图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51D2ADC-0ECD-4E58-B6A7-5C8EEA4CC4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461" b="25484"/>
          <a:stretch/>
        </p:blipFill>
        <p:spPr>
          <a:xfrm>
            <a:off x="4324350" y="2276475"/>
            <a:ext cx="3476625" cy="1809750"/>
          </a:xfrm>
          <a:prstGeom prst="rect">
            <a:avLst/>
          </a:prstGeom>
        </p:spPr>
      </p:pic>
      <p:sp>
        <p:nvSpPr>
          <p:cNvPr id="11" name="text-42">
            <a:extLst>
              <a:ext uri="{FF2B5EF4-FFF2-40B4-BE49-F238E27FC236}">
                <a16:creationId xmlns:a16="http://schemas.microsoft.com/office/drawing/2014/main" id="{EB2F29AC-F6C3-427F-9212-E202240B6260}"/>
              </a:ext>
            </a:extLst>
          </p:cNvPr>
          <p:cNvSpPr>
            <a:spLocks noGrp="1"/>
          </p:cNvSpPr>
          <p:nvPr/>
        </p:nvSpPr>
        <p:spPr>
          <a:xfrm>
            <a:off x="4324350" y="1895475"/>
            <a:ext cx="3476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背景扣除后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52E36C0-1464-4F80-826E-B0AEBF4B75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461" b="25484"/>
          <a:stretch/>
        </p:blipFill>
        <p:spPr>
          <a:xfrm>
            <a:off x="8039100" y="2276475"/>
            <a:ext cx="3476625" cy="1809750"/>
          </a:xfrm>
          <a:prstGeom prst="rect">
            <a:avLst/>
          </a:prstGeom>
        </p:spPr>
      </p:pic>
      <p:sp>
        <p:nvSpPr>
          <p:cNvPr id="13" name="text-43">
            <a:extLst>
              <a:ext uri="{FF2B5EF4-FFF2-40B4-BE49-F238E27FC236}">
                <a16:creationId xmlns:a16="http://schemas.microsoft.com/office/drawing/2014/main" id="{363D8B2C-1DD3-43DC-8B96-26E06440E7C3}"/>
              </a:ext>
            </a:extLst>
          </p:cNvPr>
          <p:cNvSpPr>
            <a:spLocks noGrp="1"/>
          </p:cNvSpPr>
          <p:nvPr/>
        </p:nvSpPr>
        <p:spPr>
          <a:xfrm>
            <a:off x="8039100" y="1895475"/>
            <a:ext cx="3476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有效区域掩膜</a:t>
            </a:r>
          </a:p>
        </p:txBody>
      </p:sp>
      <p:sp>
        <p:nvSpPr>
          <p:cNvPr id="14" name="text-44">
            <a:extLst>
              <a:ext uri="{FF2B5EF4-FFF2-40B4-BE49-F238E27FC236}">
                <a16:creationId xmlns:a16="http://schemas.microsoft.com/office/drawing/2014/main" id="{5EF4B245-746B-4B83-9F22-DC45722AC01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57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-45">
            <a:extLst>
              <a:ext uri="{FF2B5EF4-FFF2-40B4-BE49-F238E27FC236}">
                <a16:creationId xmlns:a16="http://schemas.microsoft.com/office/drawing/2014/main" id="{492CBDA8-FD82-48CC-82A2-D3E27757BC71}"/>
              </a:ext>
            </a:extLst>
          </p:cNvPr>
          <p:cNvSpPr>
            <a:spLocks noGrp="1"/>
          </p:cNvSpPr>
          <p:nvPr/>
        </p:nvSpPr>
        <p:spPr>
          <a:xfrm>
            <a:off x="1219200" y="4486275"/>
            <a:ext cx="2867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灰度化与数值清理</a:t>
            </a:r>
          </a:p>
        </p:txBody>
      </p:sp>
      <p:sp>
        <p:nvSpPr>
          <p:cNvPr id="16" name="text-46">
            <a:extLst>
              <a:ext uri="{FF2B5EF4-FFF2-40B4-BE49-F238E27FC236}">
                <a16:creationId xmlns:a16="http://schemas.microsoft.com/office/drawing/2014/main" id="{9C278A12-DF38-4D20-AE7C-C61A6A8DB8B8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3476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统一 float32 灰度输入</a:t>
            </a:r>
          </a:p>
          <a:p>
            <a: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清理非有限数值</a:t>
            </a:r>
          </a:p>
        </p:txBody>
      </p:sp>
      <p:sp>
        <p:nvSpPr>
          <p:cNvPr id="17" name="text-47">
            <a:extLst>
              <a:ext uri="{FF2B5EF4-FFF2-40B4-BE49-F238E27FC236}">
                <a16:creationId xmlns:a16="http://schemas.microsoft.com/office/drawing/2014/main" id="{A0CE43C7-5B1F-4DEF-A446-AA35597845AA}"/>
              </a:ext>
            </a:extLst>
          </p:cNvPr>
          <p:cNvSpPr>
            <a:spLocks noGrp="1"/>
          </p:cNvSpPr>
          <p:nvPr/>
        </p:nvSpPr>
        <p:spPr>
          <a:xfrm>
            <a:off x="4324350" y="4438650"/>
            <a:ext cx="57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8" name="text-48">
            <a:extLst>
              <a:ext uri="{FF2B5EF4-FFF2-40B4-BE49-F238E27FC236}">
                <a16:creationId xmlns:a16="http://schemas.microsoft.com/office/drawing/2014/main" id="{E2EB36F4-7F94-4DBC-AF45-16AF6010CC9F}"/>
              </a:ext>
            </a:extLst>
          </p:cNvPr>
          <p:cNvSpPr>
            <a:spLocks noGrp="1"/>
          </p:cNvSpPr>
          <p:nvPr/>
        </p:nvSpPr>
        <p:spPr>
          <a:xfrm>
            <a:off x="4933950" y="4486275"/>
            <a:ext cx="2867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背景估计与扣除</a:t>
            </a:r>
          </a:p>
        </p:txBody>
      </p:sp>
      <p:sp>
        <p:nvSpPr>
          <p:cNvPr id="19" name="text-49">
            <a:extLst>
              <a:ext uri="{FF2B5EF4-FFF2-40B4-BE49-F238E27FC236}">
                <a16:creationId xmlns:a16="http://schemas.microsoft.com/office/drawing/2014/main" id="{A23CB438-AE89-44CF-A2AA-CC34C88B8501}"/>
              </a:ext>
            </a:extLst>
          </p:cNvPr>
          <p:cNvSpPr>
            <a:spLocks noGrp="1"/>
          </p:cNvSpPr>
          <p:nvPr/>
        </p:nvSpPr>
        <p:spPr>
          <a:xfrm>
            <a:off x="4324350" y="4972050"/>
            <a:ext cx="3476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ROI 内取 15% 灰度分位</a:t>
            </a:r>
          </a:p>
          <a:p>
            <a: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负信号截断为零</a:t>
            </a:r>
          </a:p>
        </p:txBody>
      </p:sp>
      <p:sp>
        <p:nvSpPr>
          <p:cNvPr id="20" name="text-50">
            <a:extLst>
              <a:ext uri="{FF2B5EF4-FFF2-40B4-BE49-F238E27FC236}">
                <a16:creationId xmlns:a16="http://schemas.microsoft.com/office/drawing/2014/main" id="{CD5D9FEE-3FB2-4384-AB93-9DF761BF6633}"/>
              </a:ext>
            </a:extLst>
          </p:cNvPr>
          <p:cNvSpPr>
            <a:spLocks noGrp="1"/>
          </p:cNvSpPr>
          <p:nvPr/>
        </p:nvSpPr>
        <p:spPr>
          <a:xfrm>
            <a:off x="8039100" y="4438650"/>
            <a:ext cx="57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-51">
            <a:extLst>
              <a:ext uri="{FF2B5EF4-FFF2-40B4-BE49-F238E27FC236}">
                <a16:creationId xmlns:a16="http://schemas.microsoft.com/office/drawing/2014/main" id="{8A572258-6038-4919-9E7D-7C67A8426337}"/>
              </a:ext>
            </a:extLst>
          </p:cNvPr>
          <p:cNvSpPr>
            <a:spLocks noGrp="1"/>
          </p:cNvSpPr>
          <p:nvPr/>
        </p:nvSpPr>
        <p:spPr>
          <a:xfrm>
            <a:off x="8648700" y="4486275"/>
            <a:ext cx="2867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ROI 与信号门控</a:t>
            </a:r>
          </a:p>
        </p:txBody>
      </p:sp>
      <p:sp>
        <p:nvSpPr>
          <p:cNvPr id="22" name="text-52">
            <a:extLst>
              <a:ext uri="{FF2B5EF4-FFF2-40B4-BE49-F238E27FC236}">
                <a16:creationId xmlns:a16="http://schemas.microsoft.com/office/drawing/2014/main" id="{B6317738-2EAD-40A1-B700-BAB0835DF24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3476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限制空间范围</a:t>
            </a:r>
          </a:p>
          <a:p>
            <a: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按峰值比例建立有效掩膜</a:t>
            </a:r>
          </a:p>
        </p:txBody>
      </p:sp>
      <p:sp>
        <p:nvSpPr>
          <p:cNvPr id="23" name="text-53">
            <a:extLst>
              <a:ext uri="{FF2B5EF4-FFF2-40B4-BE49-F238E27FC236}">
                <a16:creationId xmlns:a16="http://schemas.microsoft.com/office/drawing/2014/main" id="{5EED84F1-440F-4B77-988B-278BE47F206F}"/>
              </a:ext>
            </a:extLst>
          </p:cNvPr>
          <p:cNvSpPr>
            <a:spLocks noGrp="1"/>
          </p:cNvSpPr>
          <p:nvPr/>
        </p:nvSpPr>
        <p:spPr>
          <a:xfrm>
            <a:off x="609600" y="5934075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dirty="0" err="1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当前配置：有效阈值为</a:t>
            </a:r>
            <a:r>
              <a:rPr sz="1575" b="0" dirty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 ROI </a:t>
            </a:r>
            <a:r>
              <a:rPr sz="1575" b="0" dirty="0" err="1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信号峰值的</a:t>
            </a:r>
            <a:r>
              <a:rPr sz="1575" b="0" dirty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 2%，</a:t>
            </a:r>
            <a:r>
              <a:rPr sz="1575" b="0" dirty="0" err="1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默认不做亮度归一化</a:t>
            </a:r>
            <a:endParaRPr sz="1575" b="0" dirty="0">
              <a:solidFill>
                <a:srgbClr val="52657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378555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3F5"/>
            </a:gs>
            <a:gs pos="100000">
              <a:srgbClr val="E3E9EE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54">
            <a:extLst>
              <a:ext uri="{FF2B5EF4-FFF2-40B4-BE49-F238E27FC236}">
                <a16:creationId xmlns:a16="http://schemas.microsoft.com/office/drawing/2014/main" id="{90A0F68D-C21C-4E9A-B3D4-5E4CC9CA9A2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ANNULAR LASER MEASUREMENT</a:t>
            </a:r>
          </a:p>
        </p:txBody>
      </p:sp>
      <p:sp>
        <p:nvSpPr>
          <p:cNvPr id="2" name="object-55">
            <a:extLst>
              <a:ext uri="{FF2B5EF4-FFF2-40B4-BE49-F238E27FC236}">
                <a16:creationId xmlns:a16="http://schemas.microsoft.com/office/drawing/2014/main" id="{2651D8F2-F9DC-49F7-A13E-E6C985CE94E4}"/>
              </a:ext>
            </a:extLst>
          </p:cNvPr>
          <p:cNvSpPr>
            <a:spLocks noGrp="1"/>
          </p:cNvSpPr>
          <p:nvPr/>
        </p:nvSpPr>
        <p:spPr>
          <a:xfrm>
            <a:off x="4286250" y="447675"/>
            <a:ext cx="5857875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-56">
            <a:extLst>
              <a:ext uri="{FF2B5EF4-FFF2-40B4-BE49-F238E27FC236}">
                <a16:creationId xmlns:a16="http://schemas.microsoft.com/office/drawing/2014/main" id="{916A04A7-AEB2-4962-85FA-DF090EBF4438}"/>
              </a:ext>
            </a:extLst>
          </p:cNvPr>
          <p:cNvSpPr>
            <a:spLocks noGrp="1"/>
          </p:cNvSpPr>
          <p:nvPr/>
        </p:nvSpPr>
        <p:spPr>
          <a:xfrm>
            <a:off x="10668000" y="29527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04 / 08</a:t>
            </a:r>
          </a:p>
        </p:txBody>
      </p:sp>
      <p:sp>
        <p:nvSpPr>
          <p:cNvPr id="4" name="text-57">
            <a:extLst>
              <a:ext uri="{FF2B5EF4-FFF2-40B4-BE49-F238E27FC236}">
                <a16:creationId xmlns:a16="http://schemas.microsoft.com/office/drawing/2014/main" id="{CD289B28-8C85-4859-92EE-29CEC2BA369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连续路径筛选主条纹</a:t>
            </a:r>
          </a:p>
        </p:txBody>
      </p:sp>
      <p:sp>
        <p:nvSpPr>
          <p:cNvPr id="5" name="text-58">
            <a:extLst>
              <a:ext uri="{FF2B5EF4-FFF2-40B4-BE49-F238E27FC236}">
                <a16:creationId xmlns:a16="http://schemas.microsoft.com/office/drawing/2014/main" id="{DB4A56BA-33F3-4A41-9F20-A086BDC08EB7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联合灰度证据与几何连续性，确定后续定位的目标条纹</a:t>
            </a:r>
          </a:p>
        </p:txBody>
      </p:sp>
      <p:sp>
        <p:nvSpPr>
          <p:cNvPr id="6" name="object-59">
            <a:extLst>
              <a:ext uri="{FF2B5EF4-FFF2-40B4-BE49-F238E27FC236}">
                <a16:creationId xmlns:a16="http://schemas.microsoft.com/office/drawing/2014/main" id="{484D79F2-2F57-4679-963E-C462E086151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60">
            <a:extLst>
              <a:ext uri="{FF2B5EF4-FFF2-40B4-BE49-F238E27FC236}">
                <a16:creationId xmlns:a16="http://schemas.microsoft.com/office/drawing/2014/main" id="{1C33C36E-DED2-471A-8284-B61A6DEE592E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环形激光内径测量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38ADF8-8FDE-48F8-866F-DEFDB0BCC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840" b="35231"/>
          <a:stretch/>
        </p:blipFill>
        <p:spPr>
          <a:xfrm>
            <a:off x="609600" y="2247900"/>
            <a:ext cx="6715125" cy="2009775"/>
          </a:xfrm>
          <a:prstGeom prst="rect">
            <a:avLst/>
          </a:prstGeom>
        </p:spPr>
      </p:pic>
      <p:sp>
        <p:nvSpPr>
          <p:cNvPr id="9" name="curve-61">
            <a:extLst>
              <a:ext uri="{FF2B5EF4-FFF2-40B4-BE49-F238E27FC236}">
                <a16:creationId xmlns:a16="http://schemas.microsoft.com/office/drawing/2014/main" id="{45D037B1-8D41-4A05-B49F-9631ACBFD507}"/>
              </a:ext>
            </a:extLst>
          </p:cNvPr>
          <p:cNvSpPr>
            <a:spLocks noGrp="1"/>
          </p:cNvSpPr>
          <p:nvPr/>
        </p:nvSpPr>
        <p:spPr>
          <a:xfrm>
            <a:off x="609600" y="3251515"/>
            <a:ext cx="6702010" cy="9525"/>
          </a:xfrm>
          <a:custGeom>
            <a:avLst/>
            <a:gdLst/>
            <a:ahLst/>
            <a:cxnLst/>
            <a:rect l="0" t="0" r="0" b="0"/>
            <a:pathLst>
              <a:path w="6702010" h="9525">
                <a:moveTo>
                  <a:pt x="0" y="1613"/>
                </a:moveTo>
                <a:lnTo>
                  <a:pt x="13117" y="856"/>
                </a:lnTo>
                <a:lnTo>
                  <a:pt x="26229" y="1719"/>
                </a:lnTo>
                <a:lnTo>
                  <a:pt x="39345" y="1800"/>
                </a:lnTo>
                <a:lnTo>
                  <a:pt x="52469" y="1741"/>
                </a:lnTo>
                <a:lnTo>
                  <a:pt x="65567" y="1397"/>
                </a:lnTo>
                <a:lnTo>
                  <a:pt x="78665" y="929"/>
                </a:lnTo>
                <a:lnTo>
                  <a:pt x="91809" y="607"/>
                </a:lnTo>
                <a:lnTo>
                  <a:pt x="104920" y="590"/>
                </a:lnTo>
                <a:lnTo>
                  <a:pt x="118033" y="853"/>
                </a:lnTo>
                <a:lnTo>
                  <a:pt x="131180" y="1112"/>
                </a:lnTo>
                <a:lnTo>
                  <a:pt x="144269" y="1227"/>
                </a:lnTo>
                <a:lnTo>
                  <a:pt x="157391" y="1158"/>
                </a:lnTo>
                <a:lnTo>
                  <a:pt x="170484" y="973"/>
                </a:lnTo>
                <a:lnTo>
                  <a:pt x="183621" y="725"/>
                </a:lnTo>
                <a:lnTo>
                  <a:pt x="196731" y="531"/>
                </a:lnTo>
                <a:lnTo>
                  <a:pt x="209843" y="538"/>
                </a:lnTo>
                <a:lnTo>
                  <a:pt x="222972" y="604"/>
                </a:lnTo>
                <a:lnTo>
                  <a:pt x="236078" y="639"/>
                </a:lnTo>
                <a:lnTo>
                  <a:pt x="249191" y="602"/>
                </a:lnTo>
                <a:lnTo>
                  <a:pt x="262314" y="633"/>
                </a:lnTo>
                <a:lnTo>
                  <a:pt x="275412" y="896"/>
                </a:lnTo>
                <a:lnTo>
                  <a:pt x="288539" y="1367"/>
                </a:lnTo>
                <a:lnTo>
                  <a:pt x="301660" y="1786"/>
                </a:lnTo>
                <a:lnTo>
                  <a:pt x="314766" y="1942"/>
                </a:lnTo>
                <a:lnTo>
                  <a:pt x="327892" y="1845"/>
                </a:lnTo>
                <a:lnTo>
                  <a:pt x="341002" y="1713"/>
                </a:lnTo>
                <a:lnTo>
                  <a:pt x="354104" y="1702"/>
                </a:lnTo>
                <a:lnTo>
                  <a:pt x="367235" y="1983"/>
                </a:lnTo>
                <a:lnTo>
                  <a:pt x="380349" y="2066"/>
                </a:lnTo>
                <a:lnTo>
                  <a:pt x="393488" y="1950"/>
                </a:lnTo>
                <a:lnTo>
                  <a:pt x="406566" y="1624"/>
                </a:lnTo>
                <a:lnTo>
                  <a:pt x="419701" y="1305"/>
                </a:lnTo>
                <a:lnTo>
                  <a:pt x="432810" y="1149"/>
                </a:lnTo>
                <a:lnTo>
                  <a:pt x="445927" y="1288"/>
                </a:lnTo>
                <a:lnTo>
                  <a:pt x="459046" y="1589"/>
                </a:lnTo>
                <a:lnTo>
                  <a:pt x="472144" y="1900"/>
                </a:lnTo>
                <a:lnTo>
                  <a:pt x="485243" y="2157"/>
                </a:lnTo>
                <a:lnTo>
                  <a:pt x="498384" y="2311"/>
                </a:lnTo>
                <a:lnTo>
                  <a:pt x="511505" y="2208"/>
                </a:lnTo>
                <a:lnTo>
                  <a:pt x="524624" y="1858"/>
                </a:lnTo>
                <a:lnTo>
                  <a:pt x="537726" y="1408"/>
                </a:lnTo>
                <a:lnTo>
                  <a:pt x="550846" y="1069"/>
                </a:lnTo>
                <a:lnTo>
                  <a:pt x="563953" y="982"/>
                </a:lnTo>
                <a:lnTo>
                  <a:pt x="577100" y="1029"/>
                </a:lnTo>
                <a:lnTo>
                  <a:pt x="590201" y="976"/>
                </a:lnTo>
                <a:lnTo>
                  <a:pt x="603313" y="744"/>
                </a:lnTo>
                <a:lnTo>
                  <a:pt x="616429" y="538"/>
                </a:lnTo>
                <a:lnTo>
                  <a:pt x="629544" y="515"/>
                </a:lnTo>
                <a:lnTo>
                  <a:pt x="642661" y="636"/>
                </a:lnTo>
                <a:lnTo>
                  <a:pt x="655777" y="801"/>
                </a:lnTo>
                <a:lnTo>
                  <a:pt x="668889" y="917"/>
                </a:lnTo>
                <a:lnTo>
                  <a:pt x="682005" y="950"/>
                </a:lnTo>
                <a:lnTo>
                  <a:pt x="695119" y="965"/>
                </a:lnTo>
                <a:lnTo>
                  <a:pt x="708235" y="988"/>
                </a:lnTo>
                <a:lnTo>
                  <a:pt x="721351" y="1092"/>
                </a:lnTo>
                <a:lnTo>
                  <a:pt x="734450" y="1329"/>
                </a:lnTo>
                <a:lnTo>
                  <a:pt x="747589" y="1587"/>
                </a:lnTo>
                <a:lnTo>
                  <a:pt x="760693" y="1841"/>
                </a:lnTo>
                <a:lnTo>
                  <a:pt x="773812" y="1902"/>
                </a:lnTo>
                <a:lnTo>
                  <a:pt x="786914" y="1708"/>
                </a:lnTo>
                <a:lnTo>
                  <a:pt x="800070" y="1375"/>
                </a:lnTo>
                <a:lnTo>
                  <a:pt x="813152" y="1030"/>
                </a:lnTo>
                <a:lnTo>
                  <a:pt x="826272" y="841"/>
                </a:lnTo>
                <a:lnTo>
                  <a:pt x="839391" y="788"/>
                </a:lnTo>
                <a:lnTo>
                  <a:pt x="852508" y="810"/>
                </a:lnTo>
                <a:lnTo>
                  <a:pt x="865625" y="966"/>
                </a:lnTo>
                <a:lnTo>
                  <a:pt x="878739" y="1287"/>
                </a:lnTo>
                <a:lnTo>
                  <a:pt x="891851" y="1585"/>
                </a:lnTo>
                <a:lnTo>
                  <a:pt x="904975" y="1661"/>
                </a:lnTo>
                <a:lnTo>
                  <a:pt x="918095" y="1668"/>
                </a:lnTo>
                <a:lnTo>
                  <a:pt x="931218" y="1851"/>
                </a:lnTo>
                <a:lnTo>
                  <a:pt x="944311" y="2210"/>
                </a:lnTo>
                <a:lnTo>
                  <a:pt x="957438" y="2438"/>
                </a:lnTo>
                <a:lnTo>
                  <a:pt x="970548" y="2421"/>
                </a:lnTo>
                <a:lnTo>
                  <a:pt x="983664" y="2210"/>
                </a:lnTo>
                <a:lnTo>
                  <a:pt x="996766" y="1906"/>
                </a:lnTo>
                <a:lnTo>
                  <a:pt x="1009904" y="1892"/>
                </a:lnTo>
                <a:lnTo>
                  <a:pt x="1023018" y="2093"/>
                </a:lnTo>
                <a:lnTo>
                  <a:pt x="1036124" y="2417"/>
                </a:lnTo>
                <a:lnTo>
                  <a:pt x="1049251" y="2677"/>
                </a:lnTo>
                <a:lnTo>
                  <a:pt x="1062349" y="2826"/>
                </a:lnTo>
                <a:lnTo>
                  <a:pt x="1075465" y="2902"/>
                </a:lnTo>
                <a:lnTo>
                  <a:pt x="1088584" y="2481"/>
                </a:lnTo>
                <a:lnTo>
                  <a:pt x="1101694" y="2743"/>
                </a:lnTo>
                <a:lnTo>
                  <a:pt x="1114806" y="2998"/>
                </a:lnTo>
                <a:lnTo>
                  <a:pt x="1127940" y="3410"/>
                </a:lnTo>
                <a:lnTo>
                  <a:pt x="1141044" y="3798"/>
                </a:lnTo>
                <a:lnTo>
                  <a:pt x="1154160" y="4009"/>
                </a:lnTo>
                <a:lnTo>
                  <a:pt x="1167285" y="4070"/>
                </a:lnTo>
                <a:lnTo>
                  <a:pt x="1180419" y="4083"/>
                </a:lnTo>
                <a:lnTo>
                  <a:pt x="1193511" y="4402"/>
                </a:lnTo>
                <a:lnTo>
                  <a:pt x="1206641" y="4230"/>
                </a:lnTo>
                <a:lnTo>
                  <a:pt x="1219762" y="4407"/>
                </a:lnTo>
                <a:lnTo>
                  <a:pt x="1232886" y="4673"/>
                </a:lnTo>
                <a:lnTo>
                  <a:pt x="1245984" y="5133"/>
                </a:lnTo>
                <a:lnTo>
                  <a:pt x="1259098" y="5027"/>
                </a:lnTo>
                <a:lnTo>
                  <a:pt x="1272201" y="5021"/>
                </a:lnTo>
                <a:lnTo>
                  <a:pt x="1285311" y="5324"/>
                </a:lnTo>
                <a:lnTo>
                  <a:pt x="1298414" y="4751"/>
                </a:lnTo>
                <a:lnTo>
                  <a:pt x="1311544" y="5241"/>
                </a:lnTo>
                <a:lnTo>
                  <a:pt x="1324662" y="5257"/>
                </a:lnTo>
                <a:lnTo>
                  <a:pt x="1337787" y="4888"/>
                </a:lnTo>
                <a:lnTo>
                  <a:pt x="1350894" y="5307"/>
                </a:lnTo>
                <a:lnTo>
                  <a:pt x="1364008" y="4914"/>
                </a:lnTo>
                <a:lnTo>
                  <a:pt x="1377115" y="4803"/>
                </a:lnTo>
                <a:lnTo>
                  <a:pt x="1390214" y="4763"/>
                </a:lnTo>
                <a:lnTo>
                  <a:pt x="1403349" y="4571"/>
                </a:lnTo>
                <a:lnTo>
                  <a:pt x="1416442" y="4442"/>
                </a:lnTo>
                <a:lnTo>
                  <a:pt x="1429568" y="4113"/>
                </a:lnTo>
                <a:lnTo>
                  <a:pt x="1442683" y="3849"/>
                </a:lnTo>
                <a:lnTo>
                  <a:pt x="1455806" y="3565"/>
                </a:lnTo>
                <a:lnTo>
                  <a:pt x="1468920" y="3437"/>
                </a:lnTo>
                <a:lnTo>
                  <a:pt x="1482041" y="3403"/>
                </a:lnTo>
                <a:lnTo>
                  <a:pt x="1495165" y="3403"/>
                </a:lnTo>
                <a:lnTo>
                  <a:pt x="1508279" y="3349"/>
                </a:lnTo>
                <a:lnTo>
                  <a:pt x="1521391" y="3177"/>
                </a:lnTo>
                <a:lnTo>
                  <a:pt x="1534517" y="2963"/>
                </a:lnTo>
                <a:lnTo>
                  <a:pt x="1547619" y="2791"/>
                </a:lnTo>
                <a:lnTo>
                  <a:pt x="1560735" y="2505"/>
                </a:lnTo>
                <a:lnTo>
                  <a:pt x="1573860" y="2697"/>
                </a:lnTo>
                <a:lnTo>
                  <a:pt x="1586966" y="2599"/>
                </a:lnTo>
                <a:lnTo>
                  <a:pt x="1600092" y="2475"/>
                </a:lnTo>
                <a:lnTo>
                  <a:pt x="1613209" y="2402"/>
                </a:lnTo>
                <a:lnTo>
                  <a:pt x="1626315" y="2450"/>
                </a:lnTo>
                <a:lnTo>
                  <a:pt x="1639409" y="2778"/>
                </a:lnTo>
                <a:lnTo>
                  <a:pt x="1652565" y="2833"/>
                </a:lnTo>
                <a:lnTo>
                  <a:pt x="1665639" y="2534"/>
                </a:lnTo>
                <a:lnTo>
                  <a:pt x="1678777" y="1987"/>
                </a:lnTo>
                <a:lnTo>
                  <a:pt x="1691880" y="1535"/>
                </a:lnTo>
                <a:lnTo>
                  <a:pt x="1705005" y="1386"/>
                </a:lnTo>
                <a:lnTo>
                  <a:pt x="1718146" y="1466"/>
                </a:lnTo>
                <a:lnTo>
                  <a:pt x="1731234" y="1677"/>
                </a:lnTo>
                <a:lnTo>
                  <a:pt x="1744356" y="1896"/>
                </a:lnTo>
                <a:lnTo>
                  <a:pt x="1757471" y="2194"/>
                </a:lnTo>
                <a:lnTo>
                  <a:pt x="1770592" y="2285"/>
                </a:lnTo>
                <a:lnTo>
                  <a:pt x="1783707" y="2160"/>
                </a:lnTo>
                <a:lnTo>
                  <a:pt x="1796820" y="1794"/>
                </a:lnTo>
                <a:lnTo>
                  <a:pt x="1809936" y="1308"/>
                </a:lnTo>
                <a:lnTo>
                  <a:pt x="1823050" y="948"/>
                </a:lnTo>
                <a:lnTo>
                  <a:pt x="1836157" y="845"/>
                </a:lnTo>
                <a:lnTo>
                  <a:pt x="1849284" y="934"/>
                </a:lnTo>
                <a:lnTo>
                  <a:pt x="1862386" y="1146"/>
                </a:lnTo>
                <a:lnTo>
                  <a:pt x="1875506" y="1267"/>
                </a:lnTo>
                <a:lnTo>
                  <a:pt x="1888599" y="1206"/>
                </a:lnTo>
                <a:lnTo>
                  <a:pt x="1901767" y="1085"/>
                </a:lnTo>
                <a:lnTo>
                  <a:pt x="1914862" y="1088"/>
                </a:lnTo>
                <a:lnTo>
                  <a:pt x="1927978" y="1355"/>
                </a:lnTo>
                <a:lnTo>
                  <a:pt x="1941085" y="1695"/>
                </a:lnTo>
                <a:lnTo>
                  <a:pt x="1954208" y="1787"/>
                </a:lnTo>
                <a:lnTo>
                  <a:pt x="1967316" y="1579"/>
                </a:lnTo>
                <a:lnTo>
                  <a:pt x="1980441" y="1190"/>
                </a:lnTo>
                <a:lnTo>
                  <a:pt x="1993545" y="849"/>
                </a:lnTo>
                <a:lnTo>
                  <a:pt x="2006667" y="678"/>
                </a:lnTo>
                <a:lnTo>
                  <a:pt x="2019757" y="781"/>
                </a:lnTo>
                <a:lnTo>
                  <a:pt x="2032903" y="999"/>
                </a:lnTo>
                <a:lnTo>
                  <a:pt x="2046008" y="1236"/>
                </a:lnTo>
                <a:lnTo>
                  <a:pt x="2059118" y="1196"/>
                </a:lnTo>
                <a:lnTo>
                  <a:pt x="2072253" y="990"/>
                </a:lnTo>
                <a:lnTo>
                  <a:pt x="2085377" y="737"/>
                </a:lnTo>
                <a:lnTo>
                  <a:pt x="2098483" y="709"/>
                </a:lnTo>
                <a:lnTo>
                  <a:pt x="2111582" y="979"/>
                </a:lnTo>
                <a:lnTo>
                  <a:pt x="2124713" y="1349"/>
                </a:lnTo>
                <a:lnTo>
                  <a:pt x="2137829" y="1529"/>
                </a:lnTo>
                <a:lnTo>
                  <a:pt x="2150942" y="1690"/>
                </a:lnTo>
                <a:lnTo>
                  <a:pt x="2164033" y="1533"/>
                </a:lnTo>
                <a:lnTo>
                  <a:pt x="2177179" y="1328"/>
                </a:lnTo>
                <a:lnTo>
                  <a:pt x="2190282" y="1164"/>
                </a:lnTo>
                <a:lnTo>
                  <a:pt x="2203392" y="1269"/>
                </a:lnTo>
                <a:lnTo>
                  <a:pt x="2216514" y="1417"/>
                </a:lnTo>
                <a:lnTo>
                  <a:pt x="2229609" y="1321"/>
                </a:lnTo>
                <a:lnTo>
                  <a:pt x="2242779" y="1110"/>
                </a:lnTo>
                <a:lnTo>
                  <a:pt x="2255858" y="916"/>
                </a:lnTo>
                <a:lnTo>
                  <a:pt x="2268980" y="891"/>
                </a:lnTo>
                <a:lnTo>
                  <a:pt x="2282102" y="1024"/>
                </a:lnTo>
                <a:lnTo>
                  <a:pt x="2295212" y="1273"/>
                </a:lnTo>
                <a:lnTo>
                  <a:pt x="2308328" y="1529"/>
                </a:lnTo>
                <a:lnTo>
                  <a:pt x="2321441" y="1668"/>
                </a:lnTo>
                <a:lnTo>
                  <a:pt x="2334558" y="1695"/>
                </a:lnTo>
                <a:lnTo>
                  <a:pt x="2347670" y="1685"/>
                </a:lnTo>
                <a:lnTo>
                  <a:pt x="2360786" y="1631"/>
                </a:lnTo>
                <a:lnTo>
                  <a:pt x="2373897" y="1461"/>
                </a:lnTo>
                <a:lnTo>
                  <a:pt x="2387019" y="1328"/>
                </a:lnTo>
                <a:lnTo>
                  <a:pt x="2400132" y="1330"/>
                </a:lnTo>
                <a:lnTo>
                  <a:pt x="2413248" y="1421"/>
                </a:lnTo>
                <a:lnTo>
                  <a:pt x="2426357" y="1402"/>
                </a:lnTo>
                <a:lnTo>
                  <a:pt x="2439474" y="1249"/>
                </a:lnTo>
                <a:lnTo>
                  <a:pt x="2452593" y="1066"/>
                </a:lnTo>
                <a:lnTo>
                  <a:pt x="2465708" y="949"/>
                </a:lnTo>
                <a:lnTo>
                  <a:pt x="2478815" y="911"/>
                </a:lnTo>
                <a:lnTo>
                  <a:pt x="2491949" y="923"/>
                </a:lnTo>
                <a:lnTo>
                  <a:pt x="2505063" y="1002"/>
                </a:lnTo>
                <a:lnTo>
                  <a:pt x="2518174" y="1058"/>
                </a:lnTo>
                <a:lnTo>
                  <a:pt x="2531281" y="1018"/>
                </a:lnTo>
                <a:lnTo>
                  <a:pt x="2544417" y="992"/>
                </a:lnTo>
                <a:lnTo>
                  <a:pt x="2557519" y="1101"/>
                </a:lnTo>
                <a:lnTo>
                  <a:pt x="2570637" y="1478"/>
                </a:lnTo>
                <a:lnTo>
                  <a:pt x="2583741" y="1981"/>
                </a:lnTo>
                <a:lnTo>
                  <a:pt x="2596856" y="2224"/>
                </a:lnTo>
                <a:lnTo>
                  <a:pt x="2609978" y="2142"/>
                </a:lnTo>
                <a:lnTo>
                  <a:pt x="2623096" y="1758"/>
                </a:lnTo>
                <a:lnTo>
                  <a:pt x="2636202" y="1270"/>
                </a:lnTo>
                <a:lnTo>
                  <a:pt x="2649318" y="947"/>
                </a:lnTo>
                <a:lnTo>
                  <a:pt x="2662441" y="874"/>
                </a:lnTo>
                <a:lnTo>
                  <a:pt x="2675557" y="954"/>
                </a:lnTo>
                <a:lnTo>
                  <a:pt x="2688673" y="1045"/>
                </a:lnTo>
                <a:lnTo>
                  <a:pt x="2701786" y="1115"/>
                </a:lnTo>
                <a:lnTo>
                  <a:pt x="2714902" y="1155"/>
                </a:lnTo>
                <a:lnTo>
                  <a:pt x="2728019" y="1199"/>
                </a:lnTo>
                <a:lnTo>
                  <a:pt x="2741137" y="1269"/>
                </a:lnTo>
                <a:lnTo>
                  <a:pt x="2754244" y="1282"/>
                </a:lnTo>
                <a:lnTo>
                  <a:pt x="2767370" y="1150"/>
                </a:lnTo>
                <a:lnTo>
                  <a:pt x="2780479" y="997"/>
                </a:lnTo>
                <a:lnTo>
                  <a:pt x="2793597" y="964"/>
                </a:lnTo>
                <a:lnTo>
                  <a:pt x="2806711" y="1102"/>
                </a:lnTo>
                <a:lnTo>
                  <a:pt x="2819823" y="906"/>
                </a:lnTo>
                <a:lnTo>
                  <a:pt x="2832946" y="846"/>
                </a:lnTo>
                <a:lnTo>
                  <a:pt x="2846071" y="1012"/>
                </a:lnTo>
                <a:lnTo>
                  <a:pt x="2859186" y="1321"/>
                </a:lnTo>
                <a:lnTo>
                  <a:pt x="2872295" y="1610"/>
                </a:lnTo>
                <a:lnTo>
                  <a:pt x="2885411" y="1808"/>
                </a:lnTo>
                <a:lnTo>
                  <a:pt x="2898526" y="2047"/>
                </a:lnTo>
                <a:lnTo>
                  <a:pt x="2911667" y="2201"/>
                </a:lnTo>
                <a:lnTo>
                  <a:pt x="2924749" y="2340"/>
                </a:lnTo>
                <a:lnTo>
                  <a:pt x="2937863" y="2184"/>
                </a:lnTo>
                <a:lnTo>
                  <a:pt x="2950979" y="1929"/>
                </a:lnTo>
                <a:lnTo>
                  <a:pt x="2964097" y="1853"/>
                </a:lnTo>
                <a:lnTo>
                  <a:pt x="2977207" y="2014"/>
                </a:lnTo>
                <a:lnTo>
                  <a:pt x="2990330" y="2125"/>
                </a:lnTo>
                <a:lnTo>
                  <a:pt x="3003446" y="2246"/>
                </a:lnTo>
                <a:lnTo>
                  <a:pt x="3016557" y="2218"/>
                </a:lnTo>
                <a:lnTo>
                  <a:pt x="3029679" y="2341"/>
                </a:lnTo>
                <a:lnTo>
                  <a:pt x="3042806" y="2435"/>
                </a:lnTo>
                <a:lnTo>
                  <a:pt x="3055901" y="2531"/>
                </a:lnTo>
                <a:lnTo>
                  <a:pt x="3069032" y="2627"/>
                </a:lnTo>
                <a:lnTo>
                  <a:pt x="3082156" y="2812"/>
                </a:lnTo>
                <a:lnTo>
                  <a:pt x="3095263" y="3055"/>
                </a:lnTo>
                <a:lnTo>
                  <a:pt x="3108371" y="3253"/>
                </a:lnTo>
                <a:lnTo>
                  <a:pt x="3121497" y="3387"/>
                </a:lnTo>
                <a:lnTo>
                  <a:pt x="3134624" y="3480"/>
                </a:lnTo>
                <a:lnTo>
                  <a:pt x="3147743" y="3636"/>
                </a:lnTo>
                <a:lnTo>
                  <a:pt x="3160857" y="3871"/>
                </a:lnTo>
                <a:lnTo>
                  <a:pt x="3173961" y="4486"/>
                </a:lnTo>
                <a:lnTo>
                  <a:pt x="3187082" y="4281"/>
                </a:lnTo>
                <a:lnTo>
                  <a:pt x="3200200" y="4478"/>
                </a:lnTo>
                <a:lnTo>
                  <a:pt x="3213302" y="4978"/>
                </a:lnTo>
                <a:lnTo>
                  <a:pt x="3226410" y="4707"/>
                </a:lnTo>
                <a:lnTo>
                  <a:pt x="3239518" y="4649"/>
                </a:lnTo>
                <a:lnTo>
                  <a:pt x="3252633" y="4660"/>
                </a:lnTo>
                <a:lnTo>
                  <a:pt x="3265758" y="4659"/>
                </a:lnTo>
                <a:lnTo>
                  <a:pt x="3278879" y="5128"/>
                </a:lnTo>
                <a:lnTo>
                  <a:pt x="3291994" y="5288"/>
                </a:lnTo>
                <a:lnTo>
                  <a:pt x="3305102" y="5451"/>
                </a:lnTo>
                <a:lnTo>
                  <a:pt x="3318225" y="5262"/>
                </a:lnTo>
                <a:lnTo>
                  <a:pt x="3331330" y="5212"/>
                </a:lnTo>
                <a:lnTo>
                  <a:pt x="3344423" y="4982"/>
                </a:lnTo>
                <a:lnTo>
                  <a:pt x="3357532" y="4578"/>
                </a:lnTo>
                <a:lnTo>
                  <a:pt x="3370660" y="4206"/>
                </a:lnTo>
                <a:lnTo>
                  <a:pt x="3383774" y="3886"/>
                </a:lnTo>
                <a:lnTo>
                  <a:pt x="3396902" y="3751"/>
                </a:lnTo>
                <a:lnTo>
                  <a:pt x="3410027" y="3712"/>
                </a:lnTo>
                <a:lnTo>
                  <a:pt x="3423153" y="3715"/>
                </a:lnTo>
                <a:lnTo>
                  <a:pt x="3436256" y="3888"/>
                </a:lnTo>
                <a:lnTo>
                  <a:pt x="3449372" y="4009"/>
                </a:lnTo>
                <a:lnTo>
                  <a:pt x="3462492" y="4040"/>
                </a:lnTo>
                <a:lnTo>
                  <a:pt x="3475603" y="3906"/>
                </a:lnTo>
                <a:lnTo>
                  <a:pt x="3488709" y="3616"/>
                </a:lnTo>
                <a:lnTo>
                  <a:pt x="3501819" y="3135"/>
                </a:lnTo>
                <a:lnTo>
                  <a:pt x="3514916" y="2357"/>
                </a:lnTo>
                <a:lnTo>
                  <a:pt x="3528051" y="1964"/>
                </a:lnTo>
                <a:lnTo>
                  <a:pt x="3541176" y="1913"/>
                </a:lnTo>
                <a:lnTo>
                  <a:pt x="3554290" y="2031"/>
                </a:lnTo>
                <a:lnTo>
                  <a:pt x="3567399" y="2167"/>
                </a:lnTo>
                <a:lnTo>
                  <a:pt x="3580526" y="2071"/>
                </a:lnTo>
                <a:lnTo>
                  <a:pt x="3593632" y="1889"/>
                </a:lnTo>
                <a:lnTo>
                  <a:pt x="3606751" y="1678"/>
                </a:lnTo>
                <a:lnTo>
                  <a:pt x="3619868" y="1645"/>
                </a:lnTo>
                <a:lnTo>
                  <a:pt x="3632980" y="1828"/>
                </a:lnTo>
                <a:lnTo>
                  <a:pt x="3646114" y="2029"/>
                </a:lnTo>
                <a:lnTo>
                  <a:pt x="3659219" y="2107"/>
                </a:lnTo>
                <a:lnTo>
                  <a:pt x="3672336" y="2075"/>
                </a:lnTo>
                <a:lnTo>
                  <a:pt x="3685453" y="1942"/>
                </a:lnTo>
                <a:lnTo>
                  <a:pt x="3698546" y="1553"/>
                </a:lnTo>
                <a:lnTo>
                  <a:pt x="3711669" y="1057"/>
                </a:lnTo>
                <a:lnTo>
                  <a:pt x="3724796" y="727"/>
                </a:lnTo>
                <a:lnTo>
                  <a:pt x="3737921" y="712"/>
                </a:lnTo>
                <a:lnTo>
                  <a:pt x="3751010" y="998"/>
                </a:lnTo>
                <a:lnTo>
                  <a:pt x="3764148" y="1302"/>
                </a:lnTo>
                <a:lnTo>
                  <a:pt x="3777258" y="1511"/>
                </a:lnTo>
                <a:lnTo>
                  <a:pt x="3790370" y="1630"/>
                </a:lnTo>
                <a:lnTo>
                  <a:pt x="3803487" y="1730"/>
                </a:lnTo>
                <a:lnTo>
                  <a:pt x="3816605" y="1784"/>
                </a:lnTo>
                <a:lnTo>
                  <a:pt x="3829709" y="1655"/>
                </a:lnTo>
                <a:lnTo>
                  <a:pt x="3842835" y="1388"/>
                </a:lnTo>
                <a:lnTo>
                  <a:pt x="3855947" y="1178"/>
                </a:lnTo>
                <a:lnTo>
                  <a:pt x="3869059" y="1238"/>
                </a:lnTo>
                <a:lnTo>
                  <a:pt x="3882194" y="1434"/>
                </a:lnTo>
                <a:lnTo>
                  <a:pt x="3895307" y="1606"/>
                </a:lnTo>
                <a:lnTo>
                  <a:pt x="3908410" y="1709"/>
                </a:lnTo>
                <a:lnTo>
                  <a:pt x="3921527" y="1752"/>
                </a:lnTo>
                <a:lnTo>
                  <a:pt x="3934641" y="1676"/>
                </a:lnTo>
                <a:lnTo>
                  <a:pt x="3947761" y="1452"/>
                </a:lnTo>
                <a:lnTo>
                  <a:pt x="3960876" y="1193"/>
                </a:lnTo>
                <a:lnTo>
                  <a:pt x="3973989" y="1083"/>
                </a:lnTo>
                <a:lnTo>
                  <a:pt x="3987103" y="1049"/>
                </a:lnTo>
                <a:lnTo>
                  <a:pt x="4000221" y="987"/>
                </a:lnTo>
                <a:lnTo>
                  <a:pt x="4013324" y="1066"/>
                </a:lnTo>
                <a:lnTo>
                  <a:pt x="4026460" y="1300"/>
                </a:lnTo>
                <a:lnTo>
                  <a:pt x="4039578" y="1498"/>
                </a:lnTo>
                <a:lnTo>
                  <a:pt x="4052685" y="1523"/>
                </a:lnTo>
                <a:lnTo>
                  <a:pt x="4065803" y="1436"/>
                </a:lnTo>
                <a:lnTo>
                  <a:pt x="4078915" y="1419"/>
                </a:lnTo>
                <a:lnTo>
                  <a:pt x="4092028" y="1573"/>
                </a:lnTo>
                <a:lnTo>
                  <a:pt x="4105143" y="1846"/>
                </a:lnTo>
                <a:lnTo>
                  <a:pt x="4118259" y="2047"/>
                </a:lnTo>
                <a:lnTo>
                  <a:pt x="4131382" y="2108"/>
                </a:lnTo>
                <a:lnTo>
                  <a:pt x="4144491" y="2069"/>
                </a:lnTo>
                <a:lnTo>
                  <a:pt x="4157610" y="1982"/>
                </a:lnTo>
                <a:lnTo>
                  <a:pt x="4170719" y="1834"/>
                </a:lnTo>
                <a:lnTo>
                  <a:pt x="4183838" y="1663"/>
                </a:lnTo>
                <a:lnTo>
                  <a:pt x="4196952" y="1510"/>
                </a:lnTo>
                <a:lnTo>
                  <a:pt x="4210066" y="1466"/>
                </a:lnTo>
                <a:lnTo>
                  <a:pt x="4223174" y="1602"/>
                </a:lnTo>
                <a:lnTo>
                  <a:pt x="4236296" y="1796"/>
                </a:lnTo>
                <a:lnTo>
                  <a:pt x="4249414" y="1902"/>
                </a:lnTo>
                <a:lnTo>
                  <a:pt x="4262531" y="1883"/>
                </a:lnTo>
                <a:lnTo>
                  <a:pt x="4275644" y="1781"/>
                </a:lnTo>
                <a:lnTo>
                  <a:pt x="4288763" y="1594"/>
                </a:lnTo>
                <a:lnTo>
                  <a:pt x="4301878" y="1323"/>
                </a:lnTo>
                <a:lnTo>
                  <a:pt x="4314993" y="1104"/>
                </a:lnTo>
                <a:lnTo>
                  <a:pt x="4328108" y="968"/>
                </a:lnTo>
                <a:lnTo>
                  <a:pt x="4341219" y="854"/>
                </a:lnTo>
                <a:lnTo>
                  <a:pt x="4354340" y="852"/>
                </a:lnTo>
                <a:lnTo>
                  <a:pt x="4367454" y="944"/>
                </a:lnTo>
                <a:lnTo>
                  <a:pt x="4380574" y="1033"/>
                </a:lnTo>
                <a:lnTo>
                  <a:pt x="4393687" y="1097"/>
                </a:lnTo>
                <a:lnTo>
                  <a:pt x="4406801" y="1233"/>
                </a:lnTo>
                <a:lnTo>
                  <a:pt x="4419917" y="1455"/>
                </a:lnTo>
                <a:lnTo>
                  <a:pt x="4433032" y="1601"/>
                </a:lnTo>
                <a:lnTo>
                  <a:pt x="4446148" y="1599"/>
                </a:lnTo>
                <a:lnTo>
                  <a:pt x="4459250" y="1483"/>
                </a:lnTo>
                <a:lnTo>
                  <a:pt x="4472357" y="1222"/>
                </a:lnTo>
                <a:lnTo>
                  <a:pt x="4485486" y="868"/>
                </a:lnTo>
                <a:lnTo>
                  <a:pt x="4498598" y="753"/>
                </a:lnTo>
                <a:lnTo>
                  <a:pt x="4511742" y="869"/>
                </a:lnTo>
                <a:lnTo>
                  <a:pt x="4524870" y="1060"/>
                </a:lnTo>
                <a:lnTo>
                  <a:pt x="4537949" y="1201"/>
                </a:lnTo>
                <a:lnTo>
                  <a:pt x="4551073" y="1210"/>
                </a:lnTo>
                <a:lnTo>
                  <a:pt x="4564187" y="1228"/>
                </a:lnTo>
                <a:lnTo>
                  <a:pt x="4577302" y="1267"/>
                </a:lnTo>
                <a:lnTo>
                  <a:pt x="4590418" y="1292"/>
                </a:lnTo>
                <a:lnTo>
                  <a:pt x="4603523" y="1217"/>
                </a:lnTo>
                <a:lnTo>
                  <a:pt x="4616670" y="1127"/>
                </a:lnTo>
                <a:lnTo>
                  <a:pt x="4629764" y="1120"/>
                </a:lnTo>
                <a:lnTo>
                  <a:pt x="4642880" y="1215"/>
                </a:lnTo>
                <a:lnTo>
                  <a:pt x="4655997" y="1283"/>
                </a:lnTo>
                <a:lnTo>
                  <a:pt x="4669110" y="1177"/>
                </a:lnTo>
                <a:lnTo>
                  <a:pt x="4682206" y="935"/>
                </a:lnTo>
                <a:lnTo>
                  <a:pt x="4695339" y="668"/>
                </a:lnTo>
                <a:lnTo>
                  <a:pt x="4708442" y="596"/>
                </a:lnTo>
                <a:lnTo>
                  <a:pt x="4721565" y="756"/>
                </a:lnTo>
                <a:lnTo>
                  <a:pt x="4734687" y="929"/>
                </a:lnTo>
                <a:lnTo>
                  <a:pt x="4747801" y="974"/>
                </a:lnTo>
                <a:lnTo>
                  <a:pt x="4760903" y="901"/>
                </a:lnTo>
                <a:lnTo>
                  <a:pt x="4774043" y="922"/>
                </a:lnTo>
                <a:lnTo>
                  <a:pt x="4787146" y="1060"/>
                </a:lnTo>
                <a:lnTo>
                  <a:pt x="4800293" y="1232"/>
                </a:lnTo>
                <a:lnTo>
                  <a:pt x="4813382" y="1292"/>
                </a:lnTo>
                <a:lnTo>
                  <a:pt x="4826496" y="1138"/>
                </a:lnTo>
                <a:lnTo>
                  <a:pt x="4839608" y="953"/>
                </a:lnTo>
                <a:lnTo>
                  <a:pt x="4852725" y="918"/>
                </a:lnTo>
                <a:lnTo>
                  <a:pt x="4865837" y="1076"/>
                </a:lnTo>
                <a:lnTo>
                  <a:pt x="4878961" y="1283"/>
                </a:lnTo>
                <a:lnTo>
                  <a:pt x="4892063" y="1294"/>
                </a:lnTo>
                <a:lnTo>
                  <a:pt x="4905187" y="1185"/>
                </a:lnTo>
                <a:lnTo>
                  <a:pt x="4918307" y="1168"/>
                </a:lnTo>
                <a:lnTo>
                  <a:pt x="4931421" y="1357"/>
                </a:lnTo>
                <a:lnTo>
                  <a:pt x="4944533" y="1739"/>
                </a:lnTo>
                <a:lnTo>
                  <a:pt x="4957647" y="2145"/>
                </a:lnTo>
                <a:lnTo>
                  <a:pt x="4970792" y="2444"/>
                </a:lnTo>
                <a:lnTo>
                  <a:pt x="4983855" y="2533"/>
                </a:lnTo>
                <a:lnTo>
                  <a:pt x="4997020" y="2936"/>
                </a:lnTo>
                <a:lnTo>
                  <a:pt x="5010125" y="3038"/>
                </a:lnTo>
                <a:lnTo>
                  <a:pt x="5023233" y="3205"/>
                </a:lnTo>
                <a:lnTo>
                  <a:pt x="5036363" y="3448"/>
                </a:lnTo>
                <a:lnTo>
                  <a:pt x="5049467" y="3721"/>
                </a:lnTo>
                <a:lnTo>
                  <a:pt x="5062572" y="3838"/>
                </a:lnTo>
                <a:lnTo>
                  <a:pt x="5075694" y="3906"/>
                </a:lnTo>
                <a:lnTo>
                  <a:pt x="5088811" y="3876"/>
                </a:lnTo>
                <a:lnTo>
                  <a:pt x="5101925" y="3866"/>
                </a:lnTo>
                <a:lnTo>
                  <a:pt x="5115060" y="4009"/>
                </a:lnTo>
                <a:lnTo>
                  <a:pt x="5128179" y="4207"/>
                </a:lnTo>
                <a:lnTo>
                  <a:pt x="5141293" y="4456"/>
                </a:lnTo>
                <a:lnTo>
                  <a:pt x="5154406" y="4652"/>
                </a:lnTo>
                <a:lnTo>
                  <a:pt x="5167493" y="4972"/>
                </a:lnTo>
                <a:lnTo>
                  <a:pt x="5180592" y="4562"/>
                </a:lnTo>
                <a:lnTo>
                  <a:pt x="5193732" y="4465"/>
                </a:lnTo>
                <a:lnTo>
                  <a:pt x="5206855" y="4397"/>
                </a:lnTo>
                <a:lnTo>
                  <a:pt x="5219980" y="4388"/>
                </a:lnTo>
                <a:lnTo>
                  <a:pt x="5233087" y="4611"/>
                </a:lnTo>
                <a:lnTo>
                  <a:pt x="5246204" y="4763"/>
                </a:lnTo>
                <a:lnTo>
                  <a:pt x="5259319" y="4814"/>
                </a:lnTo>
                <a:lnTo>
                  <a:pt x="5272416" y="5223"/>
                </a:lnTo>
                <a:lnTo>
                  <a:pt x="5285521" y="5128"/>
                </a:lnTo>
                <a:lnTo>
                  <a:pt x="5298618" y="4655"/>
                </a:lnTo>
                <a:lnTo>
                  <a:pt x="5311735" y="4586"/>
                </a:lnTo>
                <a:lnTo>
                  <a:pt x="5324887" y="4507"/>
                </a:lnTo>
                <a:lnTo>
                  <a:pt x="5337997" y="4493"/>
                </a:lnTo>
                <a:lnTo>
                  <a:pt x="5351107" y="4417"/>
                </a:lnTo>
                <a:lnTo>
                  <a:pt x="5364241" y="4494"/>
                </a:lnTo>
                <a:lnTo>
                  <a:pt x="5377352" y="4542"/>
                </a:lnTo>
                <a:lnTo>
                  <a:pt x="5390460" y="4587"/>
                </a:lnTo>
                <a:lnTo>
                  <a:pt x="5403560" y="4515"/>
                </a:lnTo>
                <a:lnTo>
                  <a:pt x="5416679" y="4242"/>
                </a:lnTo>
                <a:lnTo>
                  <a:pt x="5429788" y="3977"/>
                </a:lnTo>
                <a:lnTo>
                  <a:pt x="5442900" y="3625"/>
                </a:lnTo>
                <a:lnTo>
                  <a:pt x="5456021" y="3240"/>
                </a:lnTo>
                <a:lnTo>
                  <a:pt x="5469147" y="2710"/>
                </a:lnTo>
                <a:lnTo>
                  <a:pt x="5482262" y="2721"/>
                </a:lnTo>
                <a:lnTo>
                  <a:pt x="5495383" y="2589"/>
                </a:lnTo>
                <a:lnTo>
                  <a:pt x="5508486" y="2368"/>
                </a:lnTo>
                <a:lnTo>
                  <a:pt x="5521612" y="2307"/>
                </a:lnTo>
                <a:lnTo>
                  <a:pt x="5534727" y="2205"/>
                </a:lnTo>
                <a:lnTo>
                  <a:pt x="5547847" y="2007"/>
                </a:lnTo>
                <a:lnTo>
                  <a:pt x="5560956" y="1771"/>
                </a:lnTo>
                <a:lnTo>
                  <a:pt x="5574077" y="1547"/>
                </a:lnTo>
                <a:lnTo>
                  <a:pt x="5587194" y="1422"/>
                </a:lnTo>
                <a:lnTo>
                  <a:pt x="5600308" y="1509"/>
                </a:lnTo>
                <a:lnTo>
                  <a:pt x="5613426" y="1744"/>
                </a:lnTo>
                <a:lnTo>
                  <a:pt x="5626527" y="1907"/>
                </a:lnTo>
                <a:lnTo>
                  <a:pt x="5639666" y="2105"/>
                </a:lnTo>
                <a:lnTo>
                  <a:pt x="5652774" y="2200"/>
                </a:lnTo>
                <a:lnTo>
                  <a:pt x="5665896" y="2279"/>
                </a:lnTo>
                <a:lnTo>
                  <a:pt x="5678997" y="2218"/>
                </a:lnTo>
                <a:lnTo>
                  <a:pt x="5692112" y="1962"/>
                </a:lnTo>
                <a:lnTo>
                  <a:pt x="5705222" y="1762"/>
                </a:lnTo>
                <a:lnTo>
                  <a:pt x="5718363" y="1605"/>
                </a:lnTo>
                <a:lnTo>
                  <a:pt x="5731464" y="1513"/>
                </a:lnTo>
                <a:lnTo>
                  <a:pt x="5744580" y="1347"/>
                </a:lnTo>
                <a:lnTo>
                  <a:pt x="5757689" y="1354"/>
                </a:lnTo>
                <a:lnTo>
                  <a:pt x="5770811" y="1385"/>
                </a:lnTo>
                <a:lnTo>
                  <a:pt x="5783927" y="1260"/>
                </a:lnTo>
                <a:lnTo>
                  <a:pt x="5797064" y="953"/>
                </a:lnTo>
                <a:lnTo>
                  <a:pt x="5810150" y="607"/>
                </a:lnTo>
                <a:lnTo>
                  <a:pt x="5823279" y="473"/>
                </a:lnTo>
                <a:lnTo>
                  <a:pt x="5836395" y="453"/>
                </a:lnTo>
                <a:lnTo>
                  <a:pt x="5849499" y="643"/>
                </a:lnTo>
                <a:lnTo>
                  <a:pt x="5862620" y="875"/>
                </a:lnTo>
                <a:lnTo>
                  <a:pt x="5875732" y="994"/>
                </a:lnTo>
                <a:lnTo>
                  <a:pt x="5888848" y="924"/>
                </a:lnTo>
                <a:lnTo>
                  <a:pt x="5901964" y="873"/>
                </a:lnTo>
                <a:lnTo>
                  <a:pt x="5915081" y="980"/>
                </a:lnTo>
                <a:lnTo>
                  <a:pt x="5928203" y="1200"/>
                </a:lnTo>
                <a:lnTo>
                  <a:pt x="5941312" y="1412"/>
                </a:lnTo>
                <a:lnTo>
                  <a:pt x="5954427" y="1550"/>
                </a:lnTo>
                <a:lnTo>
                  <a:pt x="5967548" y="1650"/>
                </a:lnTo>
                <a:lnTo>
                  <a:pt x="5980658" y="1650"/>
                </a:lnTo>
                <a:lnTo>
                  <a:pt x="5993768" y="1480"/>
                </a:lnTo>
                <a:lnTo>
                  <a:pt x="6006875" y="1142"/>
                </a:lnTo>
                <a:lnTo>
                  <a:pt x="6020002" y="825"/>
                </a:lnTo>
                <a:lnTo>
                  <a:pt x="6033121" y="650"/>
                </a:lnTo>
                <a:lnTo>
                  <a:pt x="6046210" y="749"/>
                </a:lnTo>
                <a:lnTo>
                  <a:pt x="6059357" y="973"/>
                </a:lnTo>
                <a:lnTo>
                  <a:pt x="6072458" y="1313"/>
                </a:lnTo>
                <a:lnTo>
                  <a:pt x="6085575" y="1571"/>
                </a:lnTo>
                <a:lnTo>
                  <a:pt x="6098700" y="1637"/>
                </a:lnTo>
                <a:lnTo>
                  <a:pt x="6111817" y="1484"/>
                </a:lnTo>
                <a:lnTo>
                  <a:pt x="6124927" y="1333"/>
                </a:lnTo>
                <a:lnTo>
                  <a:pt x="6138048" y="1357"/>
                </a:lnTo>
                <a:lnTo>
                  <a:pt x="6151165" y="1518"/>
                </a:lnTo>
                <a:lnTo>
                  <a:pt x="6164271" y="1696"/>
                </a:lnTo>
                <a:lnTo>
                  <a:pt x="6177389" y="1814"/>
                </a:lnTo>
                <a:lnTo>
                  <a:pt x="6190506" y="1873"/>
                </a:lnTo>
                <a:lnTo>
                  <a:pt x="6203613" y="1809"/>
                </a:lnTo>
                <a:lnTo>
                  <a:pt x="6216744" y="1667"/>
                </a:lnTo>
                <a:lnTo>
                  <a:pt x="6229845" y="1388"/>
                </a:lnTo>
                <a:lnTo>
                  <a:pt x="6242963" y="1252"/>
                </a:lnTo>
                <a:lnTo>
                  <a:pt x="6256100" y="1328"/>
                </a:lnTo>
                <a:lnTo>
                  <a:pt x="6269181" y="1473"/>
                </a:lnTo>
                <a:lnTo>
                  <a:pt x="6282328" y="1379"/>
                </a:lnTo>
                <a:lnTo>
                  <a:pt x="6295441" y="939"/>
                </a:lnTo>
                <a:lnTo>
                  <a:pt x="6308548" y="367"/>
                </a:lnTo>
                <a:lnTo>
                  <a:pt x="6321667" y="22"/>
                </a:lnTo>
                <a:lnTo>
                  <a:pt x="6334779" y="0"/>
                </a:lnTo>
                <a:lnTo>
                  <a:pt x="6347898" y="287"/>
                </a:lnTo>
                <a:lnTo>
                  <a:pt x="6361015" y="737"/>
                </a:lnTo>
                <a:lnTo>
                  <a:pt x="6374123" y="1146"/>
                </a:lnTo>
                <a:lnTo>
                  <a:pt x="6387232" y="1357"/>
                </a:lnTo>
                <a:lnTo>
                  <a:pt x="6400354" y="1427"/>
                </a:lnTo>
                <a:lnTo>
                  <a:pt x="6413469" y="1596"/>
                </a:lnTo>
                <a:lnTo>
                  <a:pt x="6426565" y="1606"/>
                </a:lnTo>
                <a:lnTo>
                  <a:pt x="6439709" y="1734"/>
                </a:lnTo>
                <a:lnTo>
                  <a:pt x="6452820" y="1689"/>
                </a:lnTo>
                <a:lnTo>
                  <a:pt x="6465939" y="1395"/>
                </a:lnTo>
                <a:lnTo>
                  <a:pt x="6479038" y="1148"/>
                </a:lnTo>
                <a:lnTo>
                  <a:pt x="6492161" y="874"/>
                </a:lnTo>
                <a:lnTo>
                  <a:pt x="6505276" y="689"/>
                </a:lnTo>
                <a:lnTo>
                  <a:pt x="6518390" y="663"/>
                </a:lnTo>
                <a:lnTo>
                  <a:pt x="6531508" y="816"/>
                </a:lnTo>
                <a:lnTo>
                  <a:pt x="6544600" y="1114"/>
                </a:lnTo>
                <a:lnTo>
                  <a:pt x="6557737" y="1365"/>
                </a:lnTo>
                <a:lnTo>
                  <a:pt x="6570842" y="1412"/>
                </a:lnTo>
                <a:lnTo>
                  <a:pt x="6583966" y="1266"/>
                </a:lnTo>
                <a:lnTo>
                  <a:pt x="6597097" y="1111"/>
                </a:lnTo>
                <a:lnTo>
                  <a:pt x="6610203" y="1119"/>
                </a:lnTo>
                <a:lnTo>
                  <a:pt x="6623314" y="1249"/>
                </a:lnTo>
                <a:lnTo>
                  <a:pt x="6636433" y="1309"/>
                </a:lnTo>
                <a:lnTo>
                  <a:pt x="6649538" y="1220"/>
                </a:lnTo>
                <a:lnTo>
                  <a:pt x="6662665" y="1123"/>
                </a:lnTo>
                <a:lnTo>
                  <a:pt x="6675772" y="1147"/>
                </a:lnTo>
                <a:lnTo>
                  <a:pt x="6688894" y="1308"/>
                </a:lnTo>
                <a:lnTo>
                  <a:pt x="6702010" y="1811"/>
                </a:lnTo>
              </a:path>
            </a:pathLst>
          </a:custGeom>
          <a:noFill/>
          <a:ln w="15240">
            <a:solidFill>
              <a:srgbClr val="4DE0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-62">
            <a:extLst>
              <a:ext uri="{FF2B5EF4-FFF2-40B4-BE49-F238E27FC236}">
                <a16:creationId xmlns:a16="http://schemas.microsoft.com/office/drawing/2014/main" id="{246846AC-18C7-4C7A-BDA5-7F1B76DCBDC9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6715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局部反光场景与提取中心线</a:t>
            </a:r>
          </a:p>
        </p:txBody>
      </p:sp>
      <p:sp>
        <p:nvSpPr>
          <p:cNvPr id="11" name="text-63">
            <a:extLst>
              <a:ext uri="{FF2B5EF4-FFF2-40B4-BE49-F238E27FC236}">
                <a16:creationId xmlns:a16="http://schemas.microsoft.com/office/drawing/2014/main" id="{D888F42D-5DD8-466E-9918-9E1B82F754D3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6715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青色为算法输出中心线</a:t>
            </a:r>
          </a:p>
        </p:txBody>
      </p:sp>
      <p:sp>
        <p:nvSpPr>
          <p:cNvPr id="12" name="object-64">
            <a:extLst>
              <a:ext uri="{FF2B5EF4-FFF2-40B4-BE49-F238E27FC236}">
                <a16:creationId xmlns:a16="http://schemas.microsoft.com/office/drawing/2014/main" id="{14964257-ABE4-4F1B-AC2C-34BD9C89789E}"/>
              </a:ext>
            </a:extLst>
          </p:cNvPr>
          <p:cNvSpPr>
            <a:spLocks noGrp="1"/>
          </p:cNvSpPr>
          <p:nvPr/>
        </p:nvSpPr>
        <p:spPr>
          <a:xfrm>
            <a:off x="7705725" y="2009775"/>
            <a:ext cx="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-65">
            <a:extLst>
              <a:ext uri="{FF2B5EF4-FFF2-40B4-BE49-F238E27FC236}">
                <a16:creationId xmlns:a16="http://schemas.microsoft.com/office/drawing/2014/main" id="{A994C42F-4199-40DB-AB62-8C2D22E22585}"/>
              </a:ext>
            </a:extLst>
          </p:cNvPr>
          <p:cNvSpPr>
            <a:spLocks noGrp="1"/>
          </p:cNvSpPr>
          <p:nvPr/>
        </p:nvSpPr>
        <p:spPr>
          <a:xfrm>
            <a:off x="8029575" y="2171700"/>
            <a:ext cx="3562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候选峰</a:t>
            </a:r>
          </a:p>
        </p:txBody>
      </p:sp>
      <p:sp>
        <p:nvSpPr>
          <p:cNvPr id="14" name="text-66">
            <a:extLst>
              <a:ext uri="{FF2B5EF4-FFF2-40B4-BE49-F238E27FC236}">
                <a16:creationId xmlns:a16="http://schemas.microsoft.com/office/drawing/2014/main" id="{F8F4A80E-4140-45C3-AA82-3681769525D5}"/>
              </a:ext>
            </a:extLst>
          </p:cNvPr>
          <p:cNvSpPr>
            <a:spLocks noGrp="1"/>
          </p:cNvSpPr>
          <p:nvPr/>
        </p:nvSpPr>
        <p:spPr>
          <a:xfrm>
            <a:off x="8029575" y="2647950"/>
            <a:ext cx="35623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每列保留最多 5 个局部峰</a:t>
            </a:r>
          </a:p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候选强度提供灰度代价</a:t>
            </a:r>
          </a:p>
        </p:txBody>
      </p:sp>
      <p:sp>
        <p:nvSpPr>
          <p:cNvPr id="15" name="text-67">
            <a:extLst>
              <a:ext uri="{FF2B5EF4-FFF2-40B4-BE49-F238E27FC236}">
                <a16:creationId xmlns:a16="http://schemas.microsoft.com/office/drawing/2014/main" id="{35F5D6D0-252C-4BD0-B095-120CC11004DB}"/>
              </a:ext>
            </a:extLst>
          </p:cNvPr>
          <p:cNvSpPr>
            <a:spLocks noGrp="1"/>
          </p:cNvSpPr>
          <p:nvPr/>
        </p:nvSpPr>
        <p:spPr>
          <a:xfrm>
            <a:off x="8029575" y="3686175"/>
            <a:ext cx="3562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连续路径</a:t>
            </a:r>
          </a:p>
        </p:txBody>
      </p:sp>
      <p:sp>
        <p:nvSpPr>
          <p:cNvPr id="16" name="text-68">
            <a:extLst>
              <a:ext uri="{FF2B5EF4-FFF2-40B4-BE49-F238E27FC236}">
                <a16:creationId xmlns:a16="http://schemas.microsoft.com/office/drawing/2014/main" id="{109BEF04-C5CE-485F-96E0-B89750FFB32D}"/>
              </a:ext>
            </a:extLst>
          </p:cNvPr>
          <p:cNvSpPr>
            <a:spLocks noGrp="1"/>
          </p:cNvSpPr>
          <p:nvPr/>
        </p:nvSpPr>
        <p:spPr>
          <a:xfrm>
            <a:off x="8029575" y="4162425"/>
            <a:ext cx="35623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二阶连续性约束曲率</a:t>
            </a:r>
          </a:p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相邻位移与大跳变分别惩罚</a:t>
            </a:r>
          </a:p>
        </p:txBody>
      </p:sp>
      <p:sp>
        <p:nvSpPr>
          <p:cNvPr id="17" name="object-69">
            <a:extLst>
              <a:ext uri="{FF2B5EF4-FFF2-40B4-BE49-F238E27FC236}">
                <a16:creationId xmlns:a16="http://schemas.microsoft.com/office/drawing/2014/main" id="{E92D41EF-41E4-419A-8A87-44AF36D3D08D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6715125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-70">
            <a:extLst>
              <a:ext uri="{FF2B5EF4-FFF2-40B4-BE49-F238E27FC236}">
                <a16:creationId xmlns:a16="http://schemas.microsoft.com/office/drawing/2014/main" id="{E01A9D78-22D3-4B3E-9DF3-F7164764E6D9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路径目标</a:t>
            </a:r>
          </a:p>
        </p:txBody>
      </p:sp>
      <p:sp>
        <p:nvSpPr>
          <p:cNvPr id="19" name="text-71">
            <a:extLst>
              <a:ext uri="{FF2B5EF4-FFF2-40B4-BE49-F238E27FC236}">
                <a16:creationId xmlns:a16="http://schemas.microsoft.com/office/drawing/2014/main" id="{85A774C1-A8D9-4B49-B327-18B7EDA6A353}"/>
              </a:ext>
            </a:extLst>
          </p:cNvPr>
          <p:cNvSpPr>
            <a:spLocks noGrp="1"/>
          </p:cNvSpPr>
          <p:nvPr/>
        </p:nvSpPr>
        <p:spPr>
          <a:xfrm>
            <a:off x="2095500" y="5095875"/>
            <a:ext cx="5238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950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rPr>
              <a:t>灰度  +  曲率  +  相邻位移  +  大跳变</a:t>
            </a:r>
          </a:p>
        </p:txBody>
      </p:sp>
      <p:sp>
        <p:nvSpPr>
          <p:cNvPr id="20" name="text-72">
            <a:extLst>
              <a:ext uri="{FF2B5EF4-FFF2-40B4-BE49-F238E27FC236}">
                <a16:creationId xmlns:a16="http://schemas.microsoft.com/office/drawing/2014/main" id="{522A6B0D-595F-4DCB-A355-9B8740E03C6E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3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75" b="0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SNR 与原图局部峰证据共同决定测量有效性</a:t>
            </a:r>
          </a:p>
        </p:txBody>
      </p:sp>
      <p:sp>
        <p:nvSpPr>
          <p:cNvPr id="22" name="revision-text-1">
            <a:extLst>
              <a:ext uri="{FF2B5EF4-FFF2-40B4-BE49-F238E27FC236}">
                <a16:creationId xmlns:a16="http://schemas.microsoft.com/office/drawing/2014/main" id="{64838D7B-0369-49EF-8B73-A1028DBEDFC9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347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7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相邻位移 0.02 |Δy|     大跳变 0.1 max(|Δy| − 8, 0)²</a:t>
            </a:r>
          </a:p>
        </p:txBody>
      </p:sp>
    </p:spTree>
    <p:extLst>
      <p:ext uri="{BB962C8B-B14F-4D97-AF65-F5344CB8AC3E}">
        <p14:creationId xmlns:p14="http://schemas.microsoft.com/office/powerpoint/2010/main" val="8928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3F5"/>
            </a:gs>
            <a:gs pos="100000">
              <a:srgbClr val="E3E9EE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-73">
            <a:extLst>
              <a:ext uri="{FF2B5EF4-FFF2-40B4-BE49-F238E27FC236}">
                <a16:creationId xmlns:a16="http://schemas.microsoft.com/office/drawing/2014/main" id="{11F74D36-4BD8-46B2-8C69-B5705AC85BE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ANNULAR LASER MEASUREMENT</a:t>
            </a:r>
          </a:p>
        </p:txBody>
      </p:sp>
      <p:sp>
        <p:nvSpPr>
          <p:cNvPr id="2" name="object-74">
            <a:extLst>
              <a:ext uri="{FF2B5EF4-FFF2-40B4-BE49-F238E27FC236}">
                <a16:creationId xmlns:a16="http://schemas.microsoft.com/office/drawing/2014/main" id="{82951324-4C2D-4541-A885-A2F0B21FD610}"/>
              </a:ext>
            </a:extLst>
          </p:cNvPr>
          <p:cNvSpPr>
            <a:spLocks noGrp="1"/>
          </p:cNvSpPr>
          <p:nvPr/>
        </p:nvSpPr>
        <p:spPr>
          <a:xfrm>
            <a:off x="4286250" y="447675"/>
            <a:ext cx="5857875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-75">
            <a:extLst>
              <a:ext uri="{FF2B5EF4-FFF2-40B4-BE49-F238E27FC236}">
                <a16:creationId xmlns:a16="http://schemas.microsoft.com/office/drawing/2014/main" id="{52F7E60B-390F-4F95-A3B8-8151E8158AF3}"/>
              </a:ext>
            </a:extLst>
          </p:cNvPr>
          <p:cNvSpPr>
            <a:spLocks noGrp="1"/>
          </p:cNvSpPr>
          <p:nvPr/>
        </p:nvSpPr>
        <p:spPr>
          <a:xfrm>
            <a:off x="10668000" y="29527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05 / 08</a:t>
            </a:r>
          </a:p>
        </p:txBody>
      </p:sp>
      <p:sp>
        <p:nvSpPr>
          <p:cNvPr id="4" name="text-76">
            <a:extLst>
              <a:ext uri="{FF2B5EF4-FFF2-40B4-BE49-F238E27FC236}">
                <a16:creationId xmlns:a16="http://schemas.microsoft.com/office/drawing/2014/main" id="{9C1C2713-4FCB-40A3-9187-FDD67063421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法线引导灰度重心</a:t>
            </a:r>
          </a:p>
        </p:txBody>
      </p:sp>
      <p:sp>
        <p:nvSpPr>
          <p:cNvPr id="5" name="text-77">
            <a:extLst>
              <a:ext uri="{FF2B5EF4-FFF2-40B4-BE49-F238E27FC236}">
                <a16:creationId xmlns:a16="http://schemas.microsoft.com/office/drawing/2014/main" id="{72F9AB34-B819-4557-A2B9-15B03DB6B4B8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沿条纹局部法线读取灰度剖面，获得亚像素中心初值</a:t>
            </a:r>
          </a:p>
        </p:txBody>
      </p:sp>
      <p:sp>
        <p:nvSpPr>
          <p:cNvPr id="6" name="object-78">
            <a:extLst>
              <a:ext uri="{FF2B5EF4-FFF2-40B4-BE49-F238E27FC236}">
                <a16:creationId xmlns:a16="http://schemas.microsoft.com/office/drawing/2014/main" id="{B2CBF115-08EA-415B-BBBC-E638CD42067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79">
            <a:extLst>
              <a:ext uri="{FF2B5EF4-FFF2-40B4-BE49-F238E27FC236}">
                <a16:creationId xmlns:a16="http://schemas.microsoft.com/office/drawing/2014/main" id="{A47E08B4-6482-44D5-92B2-81EBFE9DC984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环形激光内径测量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F174717-9360-4D33-B819-B5007845D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14" t="38076" r="38477" b="33567"/>
          <a:stretch/>
        </p:blipFill>
        <p:spPr>
          <a:xfrm>
            <a:off x="609600" y="2143125"/>
            <a:ext cx="5048250" cy="3857625"/>
          </a:xfrm>
          <a:prstGeom prst="rect">
            <a:avLst/>
          </a:prstGeom>
        </p:spPr>
      </p:pic>
      <p:sp>
        <p:nvSpPr>
          <p:cNvPr id="9" name="curve-80">
            <a:extLst>
              <a:ext uri="{FF2B5EF4-FFF2-40B4-BE49-F238E27FC236}">
                <a16:creationId xmlns:a16="http://schemas.microsoft.com/office/drawing/2014/main" id="{37E25364-87CF-4D3A-A157-4505702973CF}"/>
              </a:ext>
            </a:extLst>
          </p:cNvPr>
          <p:cNvSpPr>
            <a:spLocks noGrp="1"/>
          </p:cNvSpPr>
          <p:nvPr/>
        </p:nvSpPr>
        <p:spPr>
          <a:xfrm>
            <a:off x="609600" y="2845980"/>
            <a:ext cx="5048250" cy="2498637"/>
          </a:xfrm>
          <a:custGeom>
            <a:avLst/>
            <a:gdLst/>
            <a:ahLst/>
            <a:cxnLst/>
            <a:rect l="0" t="0" r="0" b="0"/>
            <a:pathLst>
              <a:path w="5048250" h="2498637">
                <a:moveTo>
                  <a:pt x="0" y="1659171"/>
                </a:moveTo>
                <a:lnTo>
                  <a:pt x="26570" y="1679246"/>
                </a:lnTo>
                <a:lnTo>
                  <a:pt x="53139" y="1700064"/>
                </a:lnTo>
                <a:lnTo>
                  <a:pt x="79709" y="1721701"/>
                </a:lnTo>
                <a:lnTo>
                  <a:pt x="106279" y="1743453"/>
                </a:lnTo>
                <a:lnTo>
                  <a:pt x="132849" y="1765585"/>
                </a:lnTo>
                <a:lnTo>
                  <a:pt x="159418" y="1788289"/>
                </a:lnTo>
                <a:lnTo>
                  <a:pt x="185988" y="1811005"/>
                </a:lnTo>
                <a:lnTo>
                  <a:pt x="212558" y="1833623"/>
                </a:lnTo>
                <a:lnTo>
                  <a:pt x="239128" y="1856867"/>
                </a:lnTo>
                <a:lnTo>
                  <a:pt x="265697" y="1880355"/>
                </a:lnTo>
                <a:lnTo>
                  <a:pt x="292267" y="1903712"/>
                </a:lnTo>
                <a:lnTo>
                  <a:pt x="318837" y="1927500"/>
                </a:lnTo>
                <a:lnTo>
                  <a:pt x="345407" y="1951232"/>
                </a:lnTo>
                <a:lnTo>
                  <a:pt x="371976" y="1975400"/>
                </a:lnTo>
                <a:lnTo>
                  <a:pt x="398546" y="1999516"/>
                </a:lnTo>
                <a:lnTo>
                  <a:pt x="425116" y="2023604"/>
                </a:lnTo>
                <a:lnTo>
                  <a:pt x="451686" y="2047520"/>
                </a:lnTo>
                <a:lnTo>
                  <a:pt x="478255" y="2071354"/>
                </a:lnTo>
                <a:lnTo>
                  <a:pt x="504825" y="2094872"/>
                </a:lnTo>
                <a:lnTo>
                  <a:pt x="531395" y="2118240"/>
                </a:lnTo>
                <a:lnTo>
                  <a:pt x="557964" y="2141728"/>
                </a:lnTo>
                <a:lnTo>
                  <a:pt x="584534" y="2164038"/>
                </a:lnTo>
                <a:lnTo>
                  <a:pt x="611104" y="2186220"/>
                </a:lnTo>
                <a:lnTo>
                  <a:pt x="637674" y="2208066"/>
                </a:lnTo>
                <a:lnTo>
                  <a:pt x="664243" y="2229337"/>
                </a:lnTo>
                <a:lnTo>
                  <a:pt x="690813" y="2249833"/>
                </a:lnTo>
                <a:lnTo>
                  <a:pt x="717383" y="2270181"/>
                </a:lnTo>
                <a:lnTo>
                  <a:pt x="743953" y="2289804"/>
                </a:lnTo>
                <a:lnTo>
                  <a:pt x="770522" y="2308865"/>
                </a:lnTo>
                <a:lnTo>
                  <a:pt x="797092" y="2327590"/>
                </a:lnTo>
                <a:lnTo>
                  <a:pt x="823662" y="2345660"/>
                </a:lnTo>
                <a:lnTo>
                  <a:pt x="850232" y="2363020"/>
                </a:lnTo>
                <a:lnTo>
                  <a:pt x="876801" y="2379226"/>
                </a:lnTo>
                <a:lnTo>
                  <a:pt x="903371" y="2394261"/>
                </a:lnTo>
                <a:lnTo>
                  <a:pt x="929941" y="2408573"/>
                </a:lnTo>
                <a:lnTo>
                  <a:pt x="956511" y="2421743"/>
                </a:lnTo>
                <a:lnTo>
                  <a:pt x="983080" y="2434105"/>
                </a:lnTo>
                <a:lnTo>
                  <a:pt x="1009650" y="2445658"/>
                </a:lnTo>
                <a:lnTo>
                  <a:pt x="1036220" y="2456591"/>
                </a:lnTo>
                <a:lnTo>
                  <a:pt x="1062789" y="2466164"/>
                </a:lnTo>
                <a:lnTo>
                  <a:pt x="1089359" y="2474779"/>
                </a:lnTo>
                <a:lnTo>
                  <a:pt x="1115929" y="2482123"/>
                </a:lnTo>
                <a:lnTo>
                  <a:pt x="1142499" y="2488079"/>
                </a:lnTo>
                <a:lnTo>
                  <a:pt x="1169068" y="2492976"/>
                </a:lnTo>
                <a:lnTo>
                  <a:pt x="1195638" y="2496136"/>
                </a:lnTo>
                <a:lnTo>
                  <a:pt x="1222208" y="2497861"/>
                </a:lnTo>
                <a:lnTo>
                  <a:pt x="1248778" y="2498637"/>
                </a:lnTo>
                <a:lnTo>
                  <a:pt x="1275347" y="2497912"/>
                </a:lnTo>
                <a:lnTo>
                  <a:pt x="1301917" y="2496169"/>
                </a:lnTo>
                <a:lnTo>
                  <a:pt x="1328487" y="2493081"/>
                </a:lnTo>
                <a:lnTo>
                  <a:pt x="1355057" y="2488764"/>
                </a:lnTo>
                <a:lnTo>
                  <a:pt x="1381626" y="2483556"/>
                </a:lnTo>
                <a:lnTo>
                  <a:pt x="1408196" y="2477259"/>
                </a:lnTo>
                <a:lnTo>
                  <a:pt x="1434766" y="2469244"/>
                </a:lnTo>
                <a:lnTo>
                  <a:pt x="1461336" y="2460065"/>
                </a:lnTo>
                <a:lnTo>
                  <a:pt x="1487905" y="2449692"/>
                </a:lnTo>
                <a:lnTo>
                  <a:pt x="1514475" y="2437485"/>
                </a:lnTo>
                <a:lnTo>
                  <a:pt x="1541045" y="2423909"/>
                </a:lnTo>
                <a:lnTo>
                  <a:pt x="1567614" y="2409294"/>
                </a:lnTo>
                <a:lnTo>
                  <a:pt x="1594184" y="2392962"/>
                </a:lnTo>
                <a:lnTo>
                  <a:pt x="1620754" y="2375734"/>
                </a:lnTo>
                <a:lnTo>
                  <a:pt x="1647324" y="2357143"/>
                </a:lnTo>
                <a:lnTo>
                  <a:pt x="1673893" y="2337525"/>
                </a:lnTo>
                <a:lnTo>
                  <a:pt x="1700463" y="2316724"/>
                </a:lnTo>
                <a:lnTo>
                  <a:pt x="1727033" y="2294611"/>
                </a:lnTo>
                <a:lnTo>
                  <a:pt x="1753603" y="2270786"/>
                </a:lnTo>
                <a:lnTo>
                  <a:pt x="1780172" y="2246151"/>
                </a:lnTo>
                <a:lnTo>
                  <a:pt x="1806742" y="2219937"/>
                </a:lnTo>
                <a:lnTo>
                  <a:pt x="1833312" y="2192718"/>
                </a:lnTo>
                <a:lnTo>
                  <a:pt x="1859882" y="2164602"/>
                </a:lnTo>
                <a:lnTo>
                  <a:pt x="1886451" y="2135818"/>
                </a:lnTo>
                <a:lnTo>
                  <a:pt x="1913021" y="2105860"/>
                </a:lnTo>
                <a:lnTo>
                  <a:pt x="1939591" y="2075377"/>
                </a:lnTo>
                <a:lnTo>
                  <a:pt x="1966161" y="2044082"/>
                </a:lnTo>
                <a:lnTo>
                  <a:pt x="1992730" y="2011641"/>
                </a:lnTo>
                <a:lnTo>
                  <a:pt x="2019300" y="1977949"/>
                </a:lnTo>
                <a:lnTo>
                  <a:pt x="2045870" y="1943221"/>
                </a:lnTo>
                <a:lnTo>
                  <a:pt x="2072439" y="1907506"/>
                </a:lnTo>
                <a:lnTo>
                  <a:pt x="2099009" y="1871120"/>
                </a:lnTo>
                <a:lnTo>
                  <a:pt x="2125579" y="1833701"/>
                </a:lnTo>
                <a:lnTo>
                  <a:pt x="2152149" y="1796196"/>
                </a:lnTo>
                <a:lnTo>
                  <a:pt x="2178718" y="1757566"/>
                </a:lnTo>
                <a:lnTo>
                  <a:pt x="2205288" y="1718922"/>
                </a:lnTo>
                <a:lnTo>
                  <a:pt x="2231858" y="1679647"/>
                </a:lnTo>
                <a:lnTo>
                  <a:pt x="2258428" y="1640475"/>
                </a:lnTo>
                <a:lnTo>
                  <a:pt x="2284997" y="1600635"/>
                </a:lnTo>
                <a:lnTo>
                  <a:pt x="2311567" y="1559987"/>
                </a:lnTo>
                <a:lnTo>
                  <a:pt x="2338137" y="1518940"/>
                </a:lnTo>
                <a:lnTo>
                  <a:pt x="2364707" y="1477551"/>
                </a:lnTo>
                <a:lnTo>
                  <a:pt x="2391276" y="1436080"/>
                </a:lnTo>
                <a:lnTo>
                  <a:pt x="2417846" y="1394055"/>
                </a:lnTo>
                <a:lnTo>
                  <a:pt x="2444416" y="1351690"/>
                </a:lnTo>
                <a:lnTo>
                  <a:pt x="2470986" y="1309498"/>
                </a:lnTo>
                <a:lnTo>
                  <a:pt x="2497555" y="1267343"/>
                </a:lnTo>
                <a:lnTo>
                  <a:pt x="2524125" y="1225958"/>
                </a:lnTo>
                <a:lnTo>
                  <a:pt x="2550695" y="1184350"/>
                </a:lnTo>
                <a:lnTo>
                  <a:pt x="2577264" y="1143266"/>
                </a:lnTo>
                <a:lnTo>
                  <a:pt x="2603834" y="1101987"/>
                </a:lnTo>
                <a:lnTo>
                  <a:pt x="2630404" y="1060917"/>
                </a:lnTo>
                <a:lnTo>
                  <a:pt x="2656974" y="1019957"/>
                </a:lnTo>
                <a:lnTo>
                  <a:pt x="2683543" y="979463"/>
                </a:lnTo>
                <a:lnTo>
                  <a:pt x="2710113" y="939152"/>
                </a:lnTo>
                <a:lnTo>
                  <a:pt x="2736683" y="898651"/>
                </a:lnTo>
                <a:lnTo>
                  <a:pt x="2763253" y="858899"/>
                </a:lnTo>
                <a:lnTo>
                  <a:pt x="2789822" y="820303"/>
                </a:lnTo>
                <a:lnTo>
                  <a:pt x="2816392" y="782377"/>
                </a:lnTo>
                <a:lnTo>
                  <a:pt x="2842962" y="744574"/>
                </a:lnTo>
                <a:lnTo>
                  <a:pt x="2869532" y="707118"/>
                </a:lnTo>
                <a:lnTo>
                  <a:pt x="2896101" y="670605"/>
                </a:lnTo>
                <a:lnTo>
                  <a:pt x="2922671" y="634365"/>
                </a:lnTo>
                <a:lnTo>
                  <a:pt x="2949241" y="598868"/>
                </a:lnTo>
                <a:lnTo>
                  <a:pt x="2975811" y="563991"/>
                </a:lnTo>
                <a:lnTo>
                  <a:pt x="3002380" y="530549"/>
                </a:lnTo>
                <a:lnTo>
                  <a:pt x="3028950" y="497723"/>
                </a:lnTo>
                <a:lnTo>
                  <a:pt x="3055520" y="465984"/>
                </a:lnTo>
                <a:lnTo>
                  <a:pt x="3082089" y="435237"/>
                </a:lnTo>
                <a:lnTo>
                  <a:pt x="3108659" y="405140"/>
                </a:lnTo>
                <a:lnTo>
                  <a:pt x="3135229" y="375501"/>
                </a:lnTo>
                <a:lnTo>
                  <a:pt x="3161799" y="346696"/>
                </a:lnTo>
                <a:lnTo>
                  <a:pt x="3188368" y="319373"/>
                </a:lnTo>
                <a:lnTo>
                  <a:pt x="3214938" y="293028"/>
                </a:lnTo>
                <a:lnTo>
                  <a:pt x="3241508" y="267532"/>
                </a:lnTo>
                <a:lnTo>
                  <a:pt x="3268078" y="243350"/>
                </a:lnTo>
                <a:lnTo>
                  <a:pt x="3294647" y="220432"/>
                </a:lnTo>
                <a:lnTo>
                  <a:pt x="3321217" y="198846"/>
                </a:lnTo>
                <a:lnTo>
                  <a:pt x="3347787" y="177917"/>
                </a:lnTo>
                <a:lnTo>
                  <a:pt x="3374357" y="158477"/>
                </a:lnTo>
                <a:lnTo>
                  <a:pt x="3400926" y="140160"/>
                </a:lnTo>
                <a:lnTo>
                  <a:pt x="3427496" y="123515"/>
                </a:lnTo>
                <a:lnTo>
                  <a:pt x="3454066" y="108169"/>
                </a:lnTo>
                <a:lnTo>
                  <a:pt x="3480636" y="93736"/>
                </a:lnTo>
                <a:lnTo>
                  <a:pt x="3507205" y="80542"/>
                </a:lnTo>
                <a:lnTo>
                  <a:pt x="3533775" y="67811"/>
                </a:lnTo>
                <a:lnTo>
                  <a:pt x="3560345" y="56122"/>
                </a:lnTo>
                <a:lnTo>
                  <a:pt x="3586914" y="45155"/>
                </a:lnTo>
                <a:lnTo>
                  <a:pt x="3613484" y="35465"/>
                </a:lnTo>
                <a:lnTo>
                  <a:pt x="3640054" y="26875"/>
                </a:lnTo>
                <a:lnTo>
                  <a:pt x="3666624" y="19461"/>
                </a:lnTo>
                <a:lnTo>
                  <a:pt x="3693193" y="13735"/>
                </a:lnTo>
                <a:lnTo>
                  <a:pt x="3719763" y="8870"/>
                </a:lnTo>
                <a:lnTo>
                  <a:pt x="3746333" y="5297"/>
                </a:lnTo>
                <a:lnTo>
                  <a:pt x="3772903" y="2685"/>
                </a:lnTo>
                <a:lnTo>
                  <a:pt x="3799472" y="1014"/>
                </a:lnTo>
                <a:lnTo>
                  <a:pt x="3826042" y="136"/>
                </a:lnTo>
                <a:lnTo>
                  <a:pt x="3852612" y="0"/>
                </a:lnTo>
                <a:lnTo>
                  <a:pt x="3879182" y="1182"/>
                </a:lnTo>
                <a:lnTo>
                  <a:pt x="3905751" y="3322"/>
                </a:lnTo>
                <a:lnTo>
                  <a:pt x="3932321" y="6502"/>
                </a:lnTo>
                <a:lnTo>
                  <a:pt x="3958891" y="10348"/>
                </a:lnTo>
                <a:lnTo>
                  <a:pt x="3985461" y="14898"/>
                </a:lnTo>
                <a:lnTo>
                  <a:pt x="4012030" y="20322"/>
                </a:lnTo>
                <a:lnTo>
                  <a:pt x="4038600" y="25868"/>
                </a:lnTo>
                <a:lnTo>
                  <a:pt x="4065170" y="32270"/>
                </a:lnTo>
                <a:lnTo>
                  <a:pt x="4091739" y="39103"/>
                </a:lnTo>
                <a:lnTo>
                  <a:pt x="4118309" y="46422"/>
                </a:lnTo>
                <a:lnTo>
                  <a:pt x="4144879" y="54295"/>
                </a:lnTo>
                <a:lnTo>
                  <a:pt x="4171449" y="63605"/>
                </a:lnTo>
                <a:lnTo>
                  <a:pt x="4198018" y="72990"/>
                </a:lnTo>
                <a:lnTo>
                  <a:pt x="4224588" y="83096"/>
                </a:lnTo>
                <a:lnTo>
                  <a:pt x="4251158" y="93293"/>
                </a:lnTo>
                <a:lnTo>
                  <a:pt x="4277728" y="103576"/>
                </a:lnTo>
                <a:lnTo>
                  <a:pt x="4304297" y="113945"/>
                </a:lnTo>
                <a:lnTo>
                  <a:pt x="4330867" y="124633"/>
                </a:lnTo>
                <a:lnTo>
                  <a:pt x="4357437" y="135243"/>
                </a:lnTo>
                <a:lnTo>
                  <a:pt x="4384007" y="146258"/>
                </a:lnTo>
                <a:lnTo>
                  <a:pt x="4410576" y="157590"/>
                </a:lnTo>
                <a:lnTo>
                  <a:pt x="4437146" y="169257"/>
                </a:lnTo>
                <a:lnTo>
                  <a:pt x="4463716" y="181174"/>
                </a:lnTo>
                <a:lnTo>
                  <a:pt x="4490286" y="193202"/>
                </a:lnTo>
                <a:lnTo>
                  <a:pt x="4516855" y="204468"/>
                </a:lnTo>
                <a:lnTo>
                  <a:pt x="4543425" y="215860"/>
                </a:lnTo>
                <a:lnTo>
                  <a:pt x="4569995" y="226678"/>
                </a:lnTo>
                <a:lnTo>
                  <a:pt x="4596564" y="237316"/>
                </a:lnTo>
                <a:lnTo>
                  <a:pt x="4623134" y="248052"/>
                </a:lnTo>
                <a:lnTo>
                  <a:pt x="4649704" y="258797"/>
                </a:lnTo>
                <a:lnTo>
                  <a:pt x="4676274" y="269248"/>
                </a:lnTo>
                <a:lnTo>
                  <a:pt x="4702843" y="279693"/>
                </a:lnTo>
                <a:lnTo>
                  <a:pt x="4729413" y="289756"/>
                </a:lnTo>
                <a:lnTo>
                  <a:pt x="4755983" y="299077"/>
                </a:lnTo>
                <a:lnTo>
                  <a:pt x="4782553" y="307858"/>
                </a:lnTo>
                <a:lnTo>
                  <a:pt x="4809122" y="315876"/>
                </a:lnTo>
                <a:lnTo>
                  <a:pt x="4835692" y="322940"/>
                </a:lnTo>
                <a:lnTo>
                  <a:pt x="4862262" y="329532"/>
                </a:lnTo>
                <a:lnTo>
                  <a:pt x="4888832" y="335856"/>
                </a:lnTo>
                <a:lnTo>
                  <a:pt x="4915401" y="341838"/>
                </a:lnTo>
                <a:lnTo>
                  <a:pt x="4941971" y="347237"/>
                </a:lnTo>
                <a:lnTo>
                  <a:pt x="4968541" y="351871"/>
                </a:lnTo>
                <a:lnTo>
                  <a:pt x="4995111" y="355855"/>
                </a:lnTo>
                <a:lnTo>
                  <a:pt x="5021680" y="358949"/>
                </a:lnTo>
                <a:lnTo>
                  <a:pt x="5048250" y="361098"/>
                </a:lnTo>
              </a:path>
            </a:pathLst>
          </a:custGeom>
          <a:noFill/>
          <a:ln w="20955">
            <a:solidFill>
              <a:srgbClr val="4DE0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B0C2EE88-CCD4-43FE-8AB2-C0AFA1951BA8}"/>
              </a:ext>
            </a:extLst>
          </p:cNvPr>
          <p:cNvSpPr>
            <a:spLocks noGrp="1"/>
          </p:cNvSpPr>
          <p:nvPr/>
        </p:nvSpPr>
        <p:spPr>
          <a:xfrm>
            <a:off x="2574325" y="3713760"/>
            <a:ext cx="1118800" cy="716354"/>
          </a:xfrm>
          <a:custGeom>
            <a:avLst/>
            <a:gdLst/>
            <a:ahLst/>
            <a:cxnLst/>
            <a:rect l="0" t="0" r="0" b="0"/>
            <a:pathLst>
              <a:path w="1118800" h="716354">
                <a:moveTo>
                  <a:pt x="0" y="0"/>
                </a:moveTo>
                <a:lnTo>
                  <a:pt x="1118800" y="716354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object-81">
            <a:extLst>
              <a:ext uri="{FF2B5EF4-FFF2-40B4-BE49-F238E27FC236}">
                <a16:creationId xmlns:a16="http://schemas.microsoft.com/office/drawing/2014/main" id="{5AD3920F-148A-44C4-A3DC-2898F7488172}"/>
              </a:ext>
            </a:extLst>
          </p:cNvPr>
          <p:cNvSpPr>
            <a:spLocks noGrp="1"/>
          </p:cNvSpPr>
          <p:nvPr/>
        </p:nvSpPr>
        <p:spPr>
          <a:xfrm>
            <a:off x="2657630" y="3756821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object-82">
            <a:extLst>
              <a:ext uri="{FF2B5EF4-FFF2-40B4-BE49-F238E27FC236}">
                <a16:creationId xmlns:a16="http://schemas.microsoft.com/office/drawing/2014/main" id="{96982AEB-334A-4A7E-840B-B7AF23BCEA26}"/>
              </a:ext>
            </a:extLst>
          </p:cNvPr>
          <p:cNvSpPr>
            <a:spLocks noGrp="1"/>
          </p:cNvSpPr>
          <p:nvPr/>
        </p:nvSpPr>
        <p:spPr>
          <a:xfrm>
            <a:off x="2747134" y="3814129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object-83">
            <a:extLst>
              <a:ext uri="{FF2B5EF4-FFF2-40B4-BE49-F238E27FC236}">
                <a16:creationId xmlns:a16="http://schemas.microsoft.com/office/drawing/2014/main" id="{F8B078EC-A7D9-4C39-B6D7-E62D563C1843}"/>
              </a:ext>
            </a:extLst>
          </p:cNvPr>
          <p:cNvSpPr>
            <a:spLocks noGrp="1"/>
          </p:cNvSpPr>
          <p:nvPr/>
        </p:nvSpPr>
        <p:spPr>
          <a:xfrm>
            <a:off x="2836638" y="3871438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object-84">
            <a:extLst>
              <a:ext uri="{FF2B5EF4-FFF2-40B4-BE49-F238E27FC236}">
                <a16:creationId xmlns:a16="http://schemas.microsoft.com/office/drawing/2014/main" id="{0663CB4F-7ABB-4A52-AC91-CA099BB41670}"/>
              </a:ext>
            </a:extLst>
          </p:cNvPr>
          <p:cNvSpPr>
            <a:spLocks noGrp="1"/>
          </p:cNvSpPr>
          <p:nvPr/>
        </p:nvSpPr>
        <p:spPr>
          <a:xfrm>
            <a:off x="2926142" y="3928746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object-85">
            <a:extLst>
              <a:ext uri="{FF2B5EF4-FFF2-40B4-BE49-F238E27FC236}">
                <a16:creationId xmlns:a16="http://schemas.microsoft.com/office/drawing/2014/main" id="{BDAB3E02-DBEB-4569-982B-E76B726A397B}"/>
              </a:ext>
            </a:extLst>
          </p:cNvPr>
          <p:cNvSpPr>
            <a:spLocks noGrp="1"/>
          </p:cNvSpPr>
          <p:nvPr/>
        </p:nvSpPr>
        <p:spPr>
          <a:xfrm>
            <a:off x="3015646" y="3986054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bject-86">
            <a:extLst>
              <a:ext uri="{FF2B5EF4-FFF2-40B4-BE49-F238E27FC236}">
                <a16:creationId xmlns:a16="http://schemas.microsoft.com/office/drawing/2014/main" id="{B274C060-F356-4EC6-B437-3E5714C3B410}"/>
              </a:ext>
            </a:extLst>
          </p:cNvPr>
          <p:cNvSpPr>
            <a:spLocks noGrp="1"/>
          </p:cNvSpPr>
          <p:nvPr/>
        </p:nvSpPr>
        <p:spPr>
          <a:xfrm>
            <a:off x="3105150" y="4043362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object-87">
            <a:extLst>
              <a:ext uri="{FF2B5EF4-FFF2-40B4-BE49-F238E27FC236}">
                <a16:creationId xmlns:a16="http://schemas.microsoft.com/office/drawing/2014/main" id="{5A782842-726A-4417-BA1D-B3901EFC0BE7}"/>
              </a:ext>
            </a:extLst>
          </p:cNvPr>
          <p:cNvSpPr>
            <a:spLocks noGrp="1"/>
          </p:cNvSpPr>
          <p:nvPr/>
        </p:nvSpPr>
        <p:spPr>
          <a:xfrm>
            <a:off x="3194654" y="4100671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object-88">
            <a:extLst>
              <a:ext uri="{FF2B5EF4-FFF2-40B4-BE49-F238E27FC236}">
                <a16:creationId xmlns:a16="http://schemas.microsoft.com/office/drawing/2014/main" id="{6AE579EA-C49B-4273-9829-E234541BD0BA}"/>
              </a:ext>
            </a:extLst>
          </p:cNvPr>
          <p:cNvSpPr>
            <a:spLocks noGrp="1"/>
          </p:cNvSpPr>
          <p:nvPr/>
        </p:nvSpPr>
        <p:spPr>
          <a:xfrm>
            <a:off x="3284158" y="4157979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object-89">
            <a:extLst>
              <a:ext uri="{FF2B5EF4-FFF2-40B4-BE49-F238E27FC236}">
                <a16:creationId xmlns:a16="http://schemas.microsoft.com/office/drawing/2014/main" id="{FEDA51E7-AFA2-4B51-BC14-08BCAE8F7C5C}"/>
              </a:ext>
            </a:extLst>
          </p:cNvPr>
          <p:cNvSpPr>
            <a:spLocks noGrp="1"/>
          </p:cNvSpPr>
          <p:nvPr/>
        </p:nvSpPr>
        <p:spPr>
          <a:xfrm>
            <a:off x="3373662" y="4215287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object-90">
            <a:extLst>
              <a:ext uri="{FF2B5EF4-FFF2-40B4-BE49-F238E27FC236}">
                <a16:creationId xmlns:a16="http://schemas.microsoft.com/office/drawing/2014/main" id="{A39FE20E-8E14-439C-8B11-8B9D4C933314}"/>
              </a:ext>
            </a:extLst>
          </p:cNvPr>
          <p:cNvSpPr>
            <a:spLocks noGrp="1"/>
          </p:cNvSpPr>
          <p:nvPr/>
        </p:nvSpPr>
        <p:spPr>
          <a:xfrm>
            <a:off x="3463166" y="4272596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object-91">
            <a:extLst>
              <a:ext uri="{FF2B5EF4-FFF2-40B4-BE49-F238E27FC236}">
                <a16:creationId xmlns:a16="http://schemas.microsoft.com/office/drawing/2014/main" id="{84EB3300-04B7-465A-863F-A3452DAE0D0F}"/>
              </a:ext>
            </a:extLst>
          </p:cNvPr>
          <p:cNvSpPr>
            <a:spLocks noGrp="1"/>
          </p:cNvSpPr>
          <p:nvPr/>
        </p:nvSpPr>
        <p:spPr>
          <a:xfrm>
            <a:off x="3552670" y="4329904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object-92">
            <a:extLst>
              <a:ext uri="{FF2B5EF4-FFF2-40B4-BE49-F238E27FC236}">
                <a16:creationId xmlns:a16="http://schemas.microsoft.com/office/drawing/2014/main" id="{3DDD1B05-B3EB-4EF8-B820-73E8B0C27D9F}"/>
              </a:ext>
            </a:extLst>
          </p:cNvPr>
          <p:cNvSpPr>
            <a:spLocks noGrp="1"/>
          </p:cNvSpPr>
          <p:nvPr/>
        </p:nvSpPr>
        <p:spPr>
          <a:xfrm>
            <a:off x="3076575" y="4014787"/>
            <a:ext cx="114300" cy="114300"/>
          </a:xfrm>
          <a:prstGeom prst="ellipse">
            <a:avLst/>
          </a:prstGeom>
          <a:solidFill>
            <a:srgbClr val="52E9F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-93">
            <a:extLst>
              <a:ext uri="{FF2B5EF4-FFF2-40B4-BE49-F238E27FC236}">
                <a16:creationId xmlns:a16="http://schemas.microsoft.com/office/drawing/2014/main" id="{55849377-AA92-45F3-9B9B-9FDDF2319809}"/>
              </a:ext>
            </a:extLst>
          </p:cNvPr>
          <p:cNvSpPr>
            <a:spLocks noGrp="1"/>
          </p:cNvSpPr>
          <p:nvPr/>
        </p:nvSpPr>
        <p:spPr>
          <a:xfrm>
            <a:off x="771525" y="2324100"/>
            <a:ext cx="45434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局部中心线与法线采样</a:t>
            </a:r>
          </a:p>
        </p:txBody>
      </p:sp>
      <p:sp>
        <p:nvSpPr>
          <p:cNvPr id="24" name="text-94">
            <a:extLst>
              <a:ext uri="{FF2B5EF4-FFF2-40B4-BE49-F238E27FC236}">
                <a16:creationId xmlns:a16="http://schemas.microsoft.com/office/drawing/2014/main" id="{A8CD9D9E-FB61-46E2-B622-F8545A531A48}"/>
              </a:ext>
            </a:extLst>
          </p:cNvPr>
          <p:cNvSpPr>
            <a:spLocks noGrp="1"/>
          </p:cNvSpPr>
          <p:nvPr/>
        </p:nvSpPr>
        <p:spPr>
          <a:xfrm>
            <a:off x="762000" y="5581650"/>
            <a:ext cx="4676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白色：法线采样    青色：导向中心线</a:t>
            </a:r>
          </a:p>
        </p:txBody>
      </p:sp>
      <p:sp>
        <p:nvSpPr>
          <p:cNvPr id="25" name="text-95">
            <a:extLst>
              <a:ext uri="{FF2B5EF4-FFF2-40B4-BE49-F238E27FC236}">
                <a16:creationId xmlns:a16="http://schemas.microsoft.com/office/drawing/2014/main" id="{D414C379-8773-42B1-91B7-F0DB1C257F96}"/>
              </a:ext>
            </a:extLst>
          </p:cNvPr>
          <p:cNvSpPr>
            <a:spLocks noGrp="1"/>
          </p:cNvSpPr>
          <p:nvPr/>
        </p:nvSpPr>
        <p:spPr>
          <a:xfrm>
            <a:off x="6096000" y="2105025"/>
            <a:ext cx="548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01  局部二次拟合</a:t>
            </a:r>
          </a:p>
        </p:txBody>
      </p:sp>
      <p:sp>
        <p:nvSpPr>
          <p:cNvPr id="26" name="text-96">
            <a:extLst>
              <a:ext uri="{FF2B5EF4-FFF2-40B4-BE49-F238E27FC236}">
                <a16:creationId xmlns:a16="http://schemas.microsoft.com/office/drawing/2014/main" id="{D9EDA05B-D9A1-4F1F-93B5-FCFAC67E1739}"/>
              </a:ext>
            </a:extLst>
          </p:cNvPr>
          <p:cNvSpPr>
            <a:spLocks noGrp="1"/>
          </p:cNvSpPr>
          <p:nvPr/>
        </p:nvSpPr>
        <p:spPr>
          <a:xfrm>
            <a:off x="6105525" y="2533650"/>
            <a:ext cx="546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对粗中心线估计局部斜率与法线方向</a:t>
            </a:r>
          </a:p>
        </p:txBody>
      </p:sp>
      <p:sp>
        <p:nvSpPr>
          <p:cNvPr id="27" name="text-97">
            <a:extLst>
              <a:ext uri="{FF2B5EF4-FFF2-40B4-BE49-F238E27FC236}">
                <a16:creationId xmlns:a16="http://schemas.microsoft.com/office/drawing/2014/main" id="{E9D62350-963B-46B6-BB43-D5B5202A8381}"/>
              </a:ext>
            </a:extLst>
          </p:cNvPr>
          <p:cNvSpPr>
            <a:spLocks noGrp="1"/>
          </p:cNvSpPr>
          <p:nvPr/>
        </p:nvSpPr>
        <p:spPr>
          <a:xfrm>
            <a:off x="6096000" y="3171825"/>
            <a:ext cx="548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02  沿法线采样</a:t>
            </a:r>
          </a:p>
        </p:txBody>
      </p:sp>
      <p:sp>
        <p:nvSpPr>
          <p:cNvPr id="28" name="text-98">
            <a:extLst>
              <a:ext uri="{FF2B5EF4-FFF2-40B4-BE49-F238E27FC236}">
                <a16:creationId xmlns:a16="http://schemas.microsoft.com/office/drawing/2014/main" id="{C525276D-7A1C-4BCC-97A7-1E9A9D0C28B5}"/>
              </a:ext>
            </a:extLst>
          </p:cNvPr>
          <p:cNvSpPr>
            <a:spLocks noGrp="1"/>
          </p:cNvSpPr>
          <p:nvPr/>
        </p:nvSpPr>
        <p:spPr>
          <a:xfrm>
            <a:off x="6105525" y="3600450"/>
            <a:ext cx="546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双线性插值读取灰度，采样间隔 0.25 px</a:t>
            </a:r>
          </a:p>
        </p:txBody>
      </p:sp>
      <p:sp>
        <p:nvSpPr>
          <p:cNvPr id="29" name="text-99">
            <a:extLst>
              <a:ext uri="{FF2B5EF4-FFF2-40B4-BE49-F238E27FC236}">
                <a16:creationId xmlns:a16="http://schemas.microsoft.com/office/drawing/2014/main" id="{F6EDD691-AB49-42E0-9C9D-6CEB192F7DC6}"/>
              </a:ext>
            </a:extLst>
          </p:cNvPr>
          <p:cNvSpPr>
            <a:spLocks noGrp="1"/>
          </p:cNvSpPr>
          <p:nvPr/>
        </p:nvSpPr>
        <p:spPr>
          <a:xfrm>
            <a:off x="6096000" y="4238625"/>
            <a:ext cx="548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03  灰度定位与回退</a:t>
            </a:r>
          </a:p>
        </p:txBody>
      </p:sp>
      <p:sp>
        <p:nvSpPr>
          <p:cNvPr id="30" name="text-100">
            <a:extLst>
              <a:ext uri="{FF2B5EF4-FFF2-40B4-BE49-F238E27FC236}">
                <a16:creationId xmlns:a16="http://schemas.microsoft.com/office/drawing/2014/main" id="{0FFD3706-B1B0-4CB1-927E-1027B9195489}"/>
              </a:ext>
            </a:extLst>
          </p:cNvPr>
          <p:cNvSpPr>
            <a:spLocks noGrp="1"/>
          </p:cNvSpPr>
          <p:nvPr/>
        </p:nvSpPr>
        <p:spPr>
          <a:xfrm>
            <a:off x="6105525" y="4667250"/>
            <a:ext cx="546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背景与阈值处理后，计算法向重心位移</a:t>
            </a:r>
          </a:p>
        </p:txBody>
      </p:sp>
      <p:sp>
        <p:nvSpPr>
          <p:cNvPr id="31" name="text-101">
            <a:extLst>
              <a:ext uri="{FF2B5EF4-FFF2-40B4-BE49-F238E27FC236}">
                <a16:creationId xmlns:a16="http://schemas.microsoft.com/office/drawing/2014/main" id="{15D4110D-C364-41DB-BDDA-C4E02405317B}"/>
              </a:ext>
            </a:extLst>
          </p:cNvPr>
          <p:cNvSpPr>
            <a:spLocks noGrp="1"/>
          </p:cNvSpPr>
          <p:nvPr/>
        </p:nvSpPr>
        <p:spPr>
          <a:xfrm>
            <a:off x="6105525" y="5267325"/>
            <a:ext cx="5467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4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4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rPr>
              <a:t>δ = Σ(wᵢ · sᵢ) / Σwᵢ</a:t>
            </a:r>
          </a:p>
        </p:txBody>
      </p:sp>
      <p:sp>
        <p:nvSpPr>
          <p:cNvPr id="32" name="text-102">
            <a:extLst>
              <a:ext uri="{FF2B5EF4-FFF2-40B4-BE49-F238E27FC236}">
                <a16:creationId xmlns:a16="http://schemas.microsoft.com/office/drawing/2014/main" id="{B63C55D3-01A2-4CD5-ADBD-6EC8C51725CC}"/>
              </a:ext>
            </a:extLst>
          </p:cNvPr>
          <p:cNvSpPr>
            <a:spLocks noGrp="1"/>
          </p:cNvSpPr>
          <p:nvPr/>
        </p:nvSpPr>
        <p:spPr>
          <a:xfrm>
            <a:off x="6105525" y="5772150"/>
            <a:ext cx="54673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正常：法线重心    回退：有效粗定位重心</a:t>
            </a:r>
          </a:p>
        </p:txBody>
      </p:sp>
      <p:sp>
        <p:nvSpPr>
          <p:cNvPr id="34" name="revision-text-2">
            <a:extLst>
              <a:ext uri="{FF2B5EF4-FFF2-40B4-BE49-F238E27FC236}">
                <a16:creationId xmlns:a16="http://schemas.microsoft.com/office/drawing/2014/main" id="{DF28BB25-E5E4-4DE8-BD6D-514EFB5CAB70}"/>
              </a:ext>
            </a:extLst>
          </p:cNvPr>
          <p:cNvSpPr>
            <a:spLocks noGrp="1"/>
          </p:cNvSpPr>
          <p:nvPr/>
        </p:nvSpPr>
        <p:spPr>
          <a:xfrm>
            <a:off x="6105525" y="6096000"/>
            <a:ext cx="54673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触发条件：法线采样截断或法线重心无效</a:t>
            </a:r>
          </a:p>
        </p:txBody>
      </p:sp>
    </p:spTree>
    <p:extLst>
      <p:ext uri="{BB962C8B-B14F-4D97-AF65-F5344CB8AC3E}">
        <p14:creationId xmlns:p14="http://schemas.microsoft.com/office/powerpoint/2010/main" val="626604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3F5"/>
            </a:gs>
            <a:gs pos="100000">
              <a:srgbClr val="E3E9EE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-103">
            <a:extLst>
              <a:ext uri="{FF2B5EF4-FFF2-40B4-BE49-F238E27FC236}">
                <a16:creationId xmlns:a16="http://schemas.microsoft.com/office/drawing/2014/main" id="{8E2CC821-AEFD-4D21-BFC7-05983D19A9D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ANNULAR LASER MEASUREMENT</a:t>
            </a:r>
          </a:p>
        </p:txBody>
      </p:sp>
      <p:sp>
        <p:nvSpPr>
          <p:cNvPr id="2" name="object-104">
            <a:extLst>
              <a:ext uri="{FF2B5EF4-FFF2-40B4-BE49-F238E27FC236}">
                <a16:creationId xmlns:a16="http://schemas.microsoft.com/office/drawing/2014/main" id="{40E9A1A4-C261-4781-B76D-26CB9DBB3A94}"/>
              </a:ext>
            </a:extLst>
          </p:cNvPr>
          <p:cNvSpPr>
            <a:spLocks noGrp="1"/>
          </p:cNvSpPr>
          <p:nvPr/>
        </p:nvSpPr>
        <p:spPr>
          <a:xfrm>
            <a:off x="4286250" y="447675"/>
            <a:ext cx="5857875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-105">
            <a:extLst>
              <a:ext uri="{FF2B5EF4-FFF2-40B4-BE49-F238E27FC236}">
                <a16:creationId xmlns:a16="http://schemas.microsoft.com/office/drawing/2014/main" id="{E4621DFA-AAE6-4648-A9B0-9C20E135BA29}"/>
              </a:ext>
            </a:extLst>
          </p:cNvPr>
          <p:cNvSpPr>
            <a:spLocks noGrp="1"/>
          </p:cNvSpPr>
          <p:nvPr/>
        </p:nvSpPr>
        <p:spPr>
          <a:xfrm>
            <a:off x="10668000" y="29527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06 / 08</a:t>
            </a:r>
          </a:p>
        </p:txBody>
      </p:sp>
      <p:sp>
        <p:nvSpPr>
          <p:cNvPr id="4" name="text-106">
            <a:extLst>
              <a:ext uri="{FF2B5EF4-FFF2-40B4-BE49-F238E27FC236}">
                <a16:creationId xmlns:a16="http://schemas.microsoft.com/office/drawing/2014/main" id="{0C0CF2B8-8F7A-471D-95B3-739AC4288CD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Steger 亚像素精修</a:t>
            </a:r>
          </a:p>
        </p:txBody>
      </p:sp>
      <p:sp>
        <p:nvSpPr>
          <p:cNvPr id="5" name="text-107">
            <a:extLst>
              <a:ext uri="{FF2B5EF4-FFF2-40B4-BE49-F238E27FC236}">
                <a16:creationId xmlns:a16="http://schemas.microsoft.com/office/drawing/2014/main" id="{7808DB5B-08AF-4D28-A0DF-106CA3FB1E68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利用局部灰度导数，在重心初值附近修正中心位置</a:t>
            </a:r>
          </a:p>
        </p:txBody>
      </p:sp>
      <p:sp>
        <p:nvSpPr>
          <p:cNvPr id="6" name="object-108">
            <a:extLst>
              <a:ext uri="{FF2B5EF4-FFF2-40B4-BE49-F238E27FC236}">
                <a16:creationId xmlns:a16="http://schemas.microsoft.com/office/drawing/2014/main" id="{654BE220-E912-4195-8C0A-843FF99475E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109">
            <a:extLst>
              <a:ext uri="{FF2B5EF4-FFF2-40B4-BE49-F238E27FC236}">
                <a16:creationId xmlns:a16="http://schemas.microsoft.com/office/drawing/2014/main" id="{03285D38-D7E1-4893-B6C0-9C10BADE5F78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环形激光内径测量</a:t>
            </a:r>
          </a:p>
        </p:txBody>
      </p:sp>
      <p:sp>
        <p:nvSpPr>
          <p:cNvPr id="8" name="text-110">
            <a:extLst>
              <a:ext uri="{FF2B5EF4-FFF2-40B4-BE49-F238E27FC236}">
                <a16:creationId xmlns:a16="http://schemas.microsoft.com/office/drawing/2014/main" id="{6EAA9FB8-8125-4130-BB6F-BB5070638B00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02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局部法向灰度剖面</a:t>
            </a:r>
          </a:p>
        </p:txBody>
      </p:sp>
      <p:sp>
        <p:nvSpPr>
          <p:cNvPr id="9" name="object-111">
            <a:extLst>
              <a:ext uri="{FF2B5EF4-FFF2-40B4-BE49-F238E27FC236}">
                <a16:creationId xmlns:a16="http://schemas.microsoft.com/office/drawing/2014/main" id="{9BB52C37-8D61-410B-8BEA-839B29DDE6DA}"/>
              </a:ext>
            </a:extLst>
          </p:cNvPr>
          <p:cNvSpPr>
            <a:spLocks noGrp="1"/>
          </p:cNvSpPr>
          <p:nvPr/>
        </p:nvSpPr>
        <p:spPr>
          <a:xfrm>
            <a:off x="1009650" y="4876800"/>
            <a:ext cx="4495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-112">
            <a:extLst>
              <a:ext uri="{FF2B5EF4-FFF2-40B4-BE49-F238E27FC236}">
                <a16:creationId xmlns:a16="http://schemas.microsoft.com/office/drawing/2014/main" id="{4D6F1BDB-5A56-4BB4-9089-AC6A21DAC3FA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33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1" name="object-113">
            <a:extLst>
              <a:ext uri="{FF2B5EF4-FFF2-40B4-BE49-F238E27FC236}">
                <a16:creationId xmlns:a16="http://schemas.microsoft.com/office/drawing/2014/main" id="{5CFBDEE6-8D21-4748-90B8-AB295079848B}"/>
              </a:ext>
            </a:extLst>
          </p:cNvPr>
          <p:cNvSpPr>
            <a:spLocks noGrp="1"/>
          </p:cNvSpPr>
          <p:nvPr/>
        </p:nvSpPr>
        <p:spPr>
          <a:xfrm>
            <a:off x="1009650" y="3982453"/>
            <a:ext cx="4495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-114">
            <a:extLst>
              <a:ext uri="{FF2B5EF4-FFF2-40B4-BE49-F238E27FC236}">
                <a16:creationId xmlns:a16="http://schemas.microsoft.com/office/drawing/2014/main" id="{1DACE03E-9887-46EF-9E33-0BE99A9752E5}"/>
              </a:ext>
            </a:extLst>
          </p:cNvPr>
          <p:cNvSpPr>
            <a:spLocks noGrp="1"/>
          </p:cNvSpPr>
          <p:nvPr/>
        </p:nvSpPr>
        <p:spPr>
          <a:xfrm>
            <a:off x="609600" y="3849103"/>
            <a:ext cx="33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80</a:t>
            </a:r>
          </a:p>
        </p:txBody>
      </p:sp>
      <p:sp>
        <p:nvSpPr>
          <p:cNvPr id="13" name="object-115">
            <a:extLst>
              <a:ext uri="{FF2B5EF4-FFF2-40B4-BE49-F238E27FC236}">
                <a16:creationId xmlns:a16="http://schemas.microsoft.com/office/drawing/2014/main" id="{E6010D14-8A2E-4567-A3BA-9D7B131FC026}"/>
              </a:ext>
            </a:extLst>
          </p:cNvPr>
          <p:cNvSpPr>
            <a:spLocks noGrp="1"/>
          </p:cNvSpPr>
          <p:nvPr/>
        </p:nvSpPr>
        <p:spPr>
          <a:xfrm>
            <a:off x="1009650" y="3088105"/>
            <a:ext cx="4495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-116">
            <a:extLst>
              <a:ext uri="{FF2B5EF4-FFF2-40B4-BE49-F238E27FC236}">
                <a16:creationId xmlns:a16="http://schemas.microsoft.com/office/drawing/2014/main" id="{1EAEA80D-93DA-4BFB-A98C-CC4F649159A7}"/>
              </a:ext>
            </a:extLst>
          </p:cNvPr>
          <p:cNvSpPr>
            <a:spLocks noGrp="1"/>
          </p:cNvSpPr>
          <p:nvPr/>
        </p:nvSpPr>
        <p:spPr>
          <a:xfrm>
            <a:off x="609600" y="2954755"/>
            <a:ext cx="33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160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6DF7EDC-2A04-4FD0-8592-ACA3B20E5378}"/>
              </a:ext>
            </a:extLst>
          </p:cNvPr>
          <p:cNvSpPr>
            <a:spLocks noGrp="1"/>
          </p:cNvSpPr>
          <p:nvPr/>
        </p:nvSpPr>
        <p:spPr>
          <a:xfrm>
            <a:off x="1009650" y="4876800"/>
            <a:ext cx="4495800" cy="9525"/>
          </a:xfrm>
          <a:custGeom>
            <a:avLst/>
            <a:gdLst/>
            <a:ahLst/>
            <a:cxnLst/>
            <a:rect l="0" t="0" r="0" b="0"/>
            <a:pathLst>
              <a:path w="4495800" h="9525">
                <a:moveTo>
                  <a:pt x="0" y="0"/>
                </a:moveTo>
                <a:lnTo>
                  <a:pt x="4495800" y="0"/>
                </a:lnTo>
              </a:path>
            </a:pathLst>
          </a:custGeom>
          <a:noFill/>
          <a:ln w="14288">
            <a:solidFill>
              <a:srgbClr val="52657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urve-117">
            <a:extLst>
              <a:ext uri="{FF2B5EF4-FFF2-40B4-BE49-F238E27FC236}">
                <a16:creationId xmlns:a16="http://schemas.microsoft.com/office/drawing/2014/main" id="{66545AA4-7A1F-49FE-9A57-EDC7D46310AE}"/>
              </a:ext>
            </a:extLst>
          </p:cNvPr>
          <p:cNvSpPr>
            <a:spLocks noGrp="1"/>
          </p:cNvSpPr>
          <p:nvPr/>
        </p:nvSpPr>
        <p:spPr>
          <a:xfrm>
            <a:off x="1009650" y="3110566"/>
            <a:ext cx="4495796" cy="1194820"/>
          </a:xfrm>
          <a:custGeom>
            <a:avLst/>
            <a:gdLst/>
            <a:ahLst/>
            <a:cxnLst/>
            <a:rect l="0" t="0" r="0" b="0"/>
            <a:pathLst>
              <a:path w="4495796" h="1194820">
                <a:moveTo>
                  <a:pt x="0" y="1194820"/>
                </a:moveTo>
                <a:lnTo>
                  <a:pt x="56197" y="1153069"/>
                </a:lnTo>
                <a:lnTo>
                  <a:pt x="112395" y="1110926"/>
                </a:lnTo>
                <a:lnTo>
                  <a:pt x="168592" y="1068767"/>
                </a:lnTo>
                <a:lnTo>
                  <a:pt x="224790" y="1026585"/>
                </a:lnTo>
                <a:lnTo>
                  <a:pt x="280987" y="984395"/>
                </a:lnTo>
                <a:lnTo>
                  <a:pt x="337185" y="942188"/>
                </a:lnTo>
                <a:lnTo>
                  <a:pt x="393382" y="899959"/>
                </a:lnTo>
                <a:lnTo>
                  <a:pt x="449580" y="857720"/>
                </a:lnTo>
                <a:lnTo>
                  <a:pt x="505777" y="815466"/>
                </a:lnTo>
                <a:lnTo>
                  <a:pt x="561974" y="773188"/>
                </a:lnTo>
                <a:lnTo>
                  <a:pt x="618172" y="721042"/>
                </a:lnTo>
                <a:lnTo>
                  <a:pt x="674369" y="668706"/>
                </a:lnTo>
                <a:lnTo>
                  <a:pt x="730567" y="616345"/>
                </a:lnTo>
                <a:lnTo>
                  <a:pt x="786764" y="563972"/>
                </a:lnTo>
                <a:lnTo>
                  <a:pt x="842962" y="511583"/>
                </a:lnTo>
                <a:lnTo>
                  <a:pt x="899159" y="459168"/>
                </a:lnTo>
                <a:lnTo>
                  <a:pt x="955357" y="406742"/>
                </a:lnTo>
                <a:lnTo>
                  <a:pt x="1011554" y="354299"/>
                </a:lnTo>
                <a:lnTo>
                  <a:pt x="1067751" y="301830"/>
                </a:lnTo>
                <a:lnTo>
                  <a:pt x="1123949" y="249352"/>
                </a:lnTo>
                <a:lnTo>
                  <a:pt x="1180146" y="229317"/>
                </a:lnTo>
                <a:lnTo>
                  <a:pt x="1236344" y="209894"/>
                </a:lnTo>
                <a:lnTo>
                  <a:pt x="1292541" y="190508"/>
                </a:lnTo>
                <a:lnTo>
                  <a:pt x="1348739" y="171154"/>
                </a:lnTo>
                <a:lnTo>
                  <a:pt x="1404936" y="151832"/>
                </a:lnTo>
                <a:lnTo>
                  <a:pt x="1461134" y="132547"/>
                </a:lnTo>
                <a:lnTo>
                  <a:pt x="1517331" y="113295"/>
                </a:lnTo>
                <a:lnTo>
                  <a:pt x="1573528" y="94075"/>
                </a:lnTo>
                <a:lnTo>
                  <a:pt x="1629726" y="74891"/>
                </a:lnTo>
                <a:lnTo>
                  <a:pt x="1685923" y="55740"/>
                </a:lnTo>
                <a:lnTo>
                  <a:pt x="1742121" y="49981"/>
                </a:lnTo>
                <a:lnTo>
                  <a:pt x="1798318" y="44460"/>
                </a:lnTo>
                <a:lnTo>
                  <a:pt x="1854516" y="38930"/>
                </a:lnTo>
                <a:lnTo>
                  <a:pt x="1910713" y="33392"/>
                </a:lnTo>
                <a:lnTo>
                  <a:pt x="1966911" y="27847"/>
                </a:lnTo>
                <a:lnTo>
                  <a:pt x="2023108" y="22294"/>
                </a:lnTo>
                <a:lnTo>
                  <a:pt x="2079306" y="16732"/>
                </a:lnTo>
                <a:lnTo>
                  <a:pt x="2135503" y="11163"/>
                </a:lnTo>
                <a:lnTo>
                  <a:pt x="2191700" y="5586"/>
                </a:lnTo>
                <a:lnTo>
                  <a:pt x="2247898" y="0"/>
                </a:lnTo>
                <a:lnTo>
                  <a:pt x="2304095" y="6396"/>
                </a:lnTo>
                <a:lnTo>
                  <a:pt x="2360293" y="13032"/>
                </a:lnTo>
                <a:lnTo>
                  <a:pt x="2416490" y="19690"/>
                </a:lnTo>
                <a:lnTo>
                  <a:pt x="2472688" y="26367"/>
                </a:lnTo>
                <a:lnTo>
                  <a:pt x="2528885" y="33063"/>
                </a:lnTo>
                <a:lnTo>
                  <a:pt x="2585083" y="39780"/>
                </a:lnTo>
                <a:lnTo>
                  <a:pt x="2641280" y="46517"/>
                </a:lnTo>
                <a:lnTo>
                  <a:pt x="2697477" y="53273"/>
                </a:lnTo>
                <a:lnTo>
                  <a:pt x="2753675" y="60050"/>
                </a:lnTo>
                <a:lnTo>
                  <a:pt x="2809872" y="66846"/>
                </a:lnTo>
                <a:lnTo>
                  <a:pt x="2866070" y="88943"/>
                </a:lnTo>
                <a:lnTo>
                  <a:pt x="2922267" y="111341"/>
                </a:lnTo>
                <a:lnTo>
                  <a:pt x="2978465" y="133746"/>
                </a:lnTo>
                <a:lnTo>
                  <a:pt x="3034662" y="156150"/>
                </a:lnTo>
                <a:lnTo>
                  <a:pt x="3090860" y="178566"/>
                </a:lnTo>
                <a:lnTo>
                  <a:pt x="3147057" y="200989"/>
                </a:lnTo>
                <a:lnTo>
                  <a:pt x="3203254" y="223411"/>
                </a:lnTo>
                <a:lnTo>
                  <a:pt x="3259452" y="245845"/>
                </a:lnTo>
                <a:lnTo>
                  <a:pt x="3315649" y="268285"/>
                </a:lnTo>
                <a:lnTo>
                  <a:pt x="3371847" y="290725"/>
                </a:lnTo>
                <a:lnTo>
                  <a:pt x="3428044" y="337321"/>
                </a:lnTo>
                <a:lnTo>
                  <a:pt x="3484242" y="384398"/>
                </a:lnTo>
                <a:lnTo>
                  <a:pt x="3540439" y="431469"/>
                </a:lnTo>
                <a:lnTo>
                  <a:pt x="3596637" y="478562"/>
                </a:lnTo>
                <a:lnTo>
                  <a:pt x="3652834" y="525663"/>
                </a:lnTo>
                <a:lnTo>
                  <a:pt x="3709031" y="572757"/>
                </a:lnTo>
                <a:lnTo>
                  <a:pt x="3765229" y="619875"/>
                </a:lnTo>
                <a:lnTo>
                  <a:pt x="3821426" y="667000"/>
                </a:lnTo>
                <a:lnTo>
                  <a:pt x="3877624" y="714118"/>
                </a:lnTo>
                <a:lnTo>
                  <a:pt x="3933821" y="761258"/>
                </a:lnTo>
                <a:lnTo>
                  <a:pt x="3990019" y="800493"/>
                </a:lnTo>
                <a:lnTo>
                  <a:pt x="4046216" y="839550"/>
                </a:lnTo>
                <a:lnTo>
                  <a:pt x="4102414" y="878610"/>
                </a:lnTo>
                <a:lnTo>
                  <a:pt x="4158611" y="917663"/>
                </a:lnTo>
                <a:lnTo>
                  <a:pt x="4214808" y="956696"/>
                </a:lnTo>
                <a:lnTo>
                  <a:pt x="4271006" y="995733"/>
                </a:lnTo>
                <a:lnTo>
                  <a:pt x="4327203" y="1034762"/>
                </a:lnTo>
                <a:lnTo>
                  <a:pt x="4383401" y="1073771"/>
                </a:lnTo>
                <a:lnTo>
                  <a:pt x="4439598" y="1112784"/>
                </a:lnTo>
                <a:lnTo>
                  <a:pt x="4495796" y="1151789"/>
                </a:lnTo>
              </a:path>
            </a:pathLst>
          </a:custGeom>
          <a:noFill/>
          <a:ln w="28575">
            <a:solidFill>
              <a:srgbClr val="087B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-118">
            <a:extLst>
              <a:ext uri="{FF2B5EF4-FFF2-40B4-BE49-F238E27FC236}">
                <a16:creationId xmlns:a16="http://schemas.microsoft.com/office/drawing/2014/main" id="{4B8697D8-5C22-497E-80B5-569776607FCE}"/>
              </a:ext>
            </a:extLst>
          </p:cNvPr>
          <p:cNvSpPr>
            <a:spLocks noGrp="1"/>
          </p:cNvSpPr>
          <p:nvPr/>
        </p:nvSpPr>
        <p:spPr>
          <a:xfrm>
            <a:off x="800100" y="4991100"/>
            <a:ext cx="419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-4</a:t>
            </a:r>
          </a:p>
        </p:txBody>
      </p:sp>
      <p:sp>
        <p:nvSpPr>
          <p:cNvPr id="18" name="text-119">
            <a:extLst>
              <a:ext uri="{FF2B5EF4-FFF2-40B4-BE49-F238E27FC236}">
                <a16:creationId xmlns:a16="http://schemas.microsoft.com/office/drawing/2014/main" id="{62AB9868-F4AB-4DF4-9F78-F5298979E2B3}"/>
              </a:ext>
            </a:extLst>
          </p:cNvPr>
          <p:cNvSpPr>
            <a:spLocks noGrp="1"/>
          </p:cNvSpPr>
          <p:nvPr/>
        </p:nvSpPr>
        <p:spPr>
          <a:xfrm>
            <a:off x="3048000" y="4991100"/>
            <a:ext cx="419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9" name="text-120">
            <a:extLst>
              <a:ext uri="{FF2B5EF4-FFF2-40B4-BE49-F238E27FC236}">
                <a16:creationId xmlns:a16="http://schemas.microsoft.com/office/drawing/2014/main" id="{3C9453BF-0F49-45C9-9CE0-CCC8210FDC03}"/>
              </a:ext>
            </a:extLst>
          </p:cNvPr>
          <p:cNvSpPr>
            <a:spLocks noGrp="1"/>
          </p:cNvSpPr>
          <p:nvPr/>
        </p:nvSpPr>
        <p:spPr>
          <a:xfrm>
            <a:off x="5295900" y="4991100"/>
            <a:ext cx="419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F64AAC75-C429-4FF0-903C-295B2D1272DD}"/>
              </a:ext>
            </a:extLst>
          </p:cNvPr>
          <p:cNvSpPr>
            <a:spLocks noGrp="1"/>
          </p:cNvSpPr>
          <p:nvPr/>
        </p:nvSpPr>
        <p:spPr>
          <a:xfrm>
            <a:off x="3257550" y="2676525"/>
            <a:ext cx="9525" cy="2200275"/>
          </a:xfrm>
          <a:custGeom>
            <a:avLst/>
            <a:gdLst/>
            <a:ahLst/>
            <a:cxnLst/>
            <a:rect l="0" t="0" r="0" b="0"/>
            <a:pathLst>
              <a:path w="9525" h="2200275">
                <a:moveTo>
                  <a:pt x="0" y="0"/>
                </a:moveTo>
                <a:lnTo>
                  <a:pt x="0" y="2200275"/>
                </a:lnTo>
              </a:path>
            </a:pathLst>
          </a:custGeom>
          <a:noFill/>
          <a:ln w="13335">
            <a:solidFill>
              <a:srgbClr val="237DC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-121">
            <a:extLst>
              <a:ext uri="{FF2B5EF4-FFF2-40B4-BE49-F238E27FC236}">
                <a16:creationId xmlns:a16="http://schemas.microsoft.com/office/drawing/2014/main" id="{7B35219F-EA77-4D9B-952D-AE541096263D}"/>
              </a:ext>
            </a:extLst>
          </p:cNvPr>
          <p:cNvSpPr>
            <a:spLocks noGrp="1"/>
          </p:cNvSpPr>
          <p:nvPr/>
        </p:nvSpPr>
        <p:spPr>
          <a:xfrm>
            <a:off x="619125" y="248602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灰度</a:t>
            </a:r>
          </a:p>
        </p:txBody>
      </p:sp>
      <p:sp>
        <p:nvSpPr>
          <p:cNvPr id="22" name="text-122">
            <a:extLst>
              <a:ext uri="{FF2B5EF4-FFF2-40B4-BE49-F238E27FC236}">
                <a16:creationId xmlns:a16="http://schemas.microsoft.com/office/drawing/2014/main" id="{04D2FEA1-5DC2-40BB-BD59-36FAF3F5ABDC}"/>
              </a:ext>
            </a:extLst>
          </p:cNvPr>
          <p:cNvSpPr>
            <a:spLocks noGrp="1"/>
          </p:cNvSpPr>
          <p:nvPr/>
        </p:nvSpPr>
        <p:spPr>
          <a:xfrm>
            <a:off x="1314450" y="5381625"/>
            <a:ext cx="42195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6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buNone/>
              <a:defRPr sz="16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沿 Hessian 法线的偏移 / px</a:t>
            </a:r>
          </a:p>
        </p:txBody>
      </p:sp>
      <p:sp>
        <p:nvSpPr>
          <p:cNvPr id="23" name="text-123">
            <a:extLst>
              <a:ext uri="{FF2B5EF4-FFF2-40B4-BE49-F238E27FC236}">
                <a16:creationId xmlns:a16="http://schemas.microsoft.com/office/drawing/2014/main" id="{6E142F82-787C-4E76-94FD-5176DF03458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51911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示例精修位移  t = −0.0206 px</a:t>
            </a:r>
          </a:p>
        </p:txBody>
      </p:sp>
      <p:sp>
        <p:nvSpPr>
          <p:cNvPr id="24" name="text-124">
            <a:extLst>
              <a:ext uri="{FF2B5EF4-FFF2-40B4-BE49-F238E27FC236}">
                <a16:creationId xmlns:a16="http://schemas.microsoft.com/office/drawing/2014/main" id="{240B811D-C463-4AAA-93E8-F94D3AFA9B48}"/>
              </a:ext>
            </a:extLst>
          </p:cNvPr>
          <p:cNvSpPr>
            <a:spLocks noGrp="1"/>
          </p:cNvSpPr>
          <p:nvPr/>
        </p:nvSpPr>
        <p:spPr>
          <a:xfrm>
            <a:off x="6267450" y="2057400"/>
            <a:ext cx="53149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Hessian 确定局部法线 n</a:t>
            </a:r>
          </a:p>
        </p:txBody>
      </p:sp>
      <p:sp>
        <p:nvSpPr>
          <p:cNvPr id="25" name="text-125">
            <a:extLst>
              <a:ext uri="{FF2B5EF4-FFF2-40B4-BE49-F238E27FC236}">
                <a16:creationId xmlns:a16="http://schemas.microsoft.com/office/drawing/2014/main" id="{B18A8EE7-2B7C-43CB-9EB8-5A43766EEBA0}"/>
              </a:ext>
            </a:extLst>
          </p:cNvPr>
          <p:cNvSpPr>
            <a:spLocks noGrp="1"/>
          </p:cNvSpPr>
          <p:nvPr/>
        </p:nvSpPr>
        <p:spPr>
          <a:xfrm>
            <a:off x="6267450" y="2571750"/>
            <a:ext cx="5314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H = [ Iₓₓ   Iₓᵧ ;  Iₓᵧ   Iᵧᵧ ]</a:t>
            </a:r>
          </a:p>
        </p:txBody>
      </p:sp>
      <p:sp>
        <p:nvSpPr>
          <p:cNvPr id="26" name="text-126">
            <a:extLst>
              <a:ext uri="{FF2B5EF4-FFF2-40B4-BE49-F238E27FC236}">
                <a16:creationId xmlns:a16="http://schemas.microsoft.com/office/drawing/2014/main" id="{0EE61E25-55C5-41C4-8B89-0A6BBE302942}"/>
              </a:ext>
            </a:extLst>
          </p:cNvPr>
          <p:cNvSpPr>
            <a:spLocks noGrp="1"/>
          </p:cNvSpPr>
          <p:nvPr/>
        </p:nvSpPr>
        <p:spPr>
          <a:xfrm>
            <a:off x="6267450" y="3362325"/>
            <a:ext cx="53149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Taylor 位移</a:t>
            </a:r>
          </a:p>
        </p:txBody>
      </p:sp>
      <p:sp>
        <p:nvSpPr>
          <p:cNvPr id="27" name="text-127">
            <a:extLst>
              <a:ext uri="{FF2B5EF4-FFF2-40B4-BE49-F238E27FC236}">
                <a16:creationId xmlns:a16="http://schemas.microsoft.com/office/drawing/2014/main" id="{23D66BD7-6479-4F6E-9833-0B133AB7F820}"/>
              </a:ext>
            </a:extLst>
          </p:cNvPr>
          <p:cNvSpPr>
            <a:spLocks noGrp="1"/>
          </p:cNvSpPr>
          <p:nvPr/>
        </p:nvSpPr>
        <p:spPr>
          <a:xfrm>
            <a:off x="6267450" y="3886200"/>
            <a:ext cx="531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rPr>
              <a:t>t = −(nᵀ∇I) / (nᵀHn)</a:t>
            </a:r>
          </a:p>
        </p:txBody>
      </p:sp>
      <p:sp>
        <p:nvSpPr>
          <p:cNvPr id="28" name="text-128">
            <a:extLst>
              <a:ext uri="{FF2B5EF4-FFF2-40B4-BE49-F238E27FC236}">
                <a16:creationId xmlns:a16="http://schemas.microsoft.com/office/drawing/2014/main" id="{3B2A5A58-02CF-47B8-B30B-E62561A796E6}"/>
              </a:ext>
            </a:extLst>
          </p:cNvPr>
          <p:cNvSpPr>
            <a:spLocks noGrp="1"/>
          </p:cNvSpPr>
          <p:nvPr/>
        </p:nvSpPr>
        <p:spPr>
          <a:xfrm>
            <a:off x="6267450" y="4419600"/>
            <a:ext cx="53149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21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p* = p + tn</a:t>
            </a:r>
          </a:p>
        </p:txBody>
      </p:sp>
      <p:sp>
        <p:nvSpPr>
          <p:cNvPr id="29" name="object-129">
            <a:extLst>
              <a:ext uri="{FF2B5EF4-FFF2-40B4-BE49-F238E27FC236}">
                <a16:creationId xmlns:a16="http://schemas.microsoft.com/office/drawing/2014/main" id="{24FF7C2E-CF5C-4A7B-BCF4-116A56776860}"/>
              </a:ext>
            </a:extLst>
          </p:cNvPr>
          <p:cNvSpPr>
            <a:spLocks noGrp="1"/>
          </p:cNvSpPr>
          <p:nvPr/>
        </p:nvSpPr>
        <p:spPr>
          <a:xfrm>
            <a:off x="6267450" y="5038725"/>
            <a:ext cx="531495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-130">
            <a:extLst>
              <a:ext uri="{FF2B5EF4-FFF2-40B4-BE49-F238E27FC236}">
                <a16:creationId xmlns:a16="http://schemas.microsoft.com/office/drawing/2014/main" id="{62F97E8C-5EC3-47A1-B35E-55CD0EF16842}"/>
              </a:ext>
            </a:extLst>
          </p:cNvPr>
          <p:cNvSpPr>
            <a:spLocks noGrp="1"/>
          </p:cNvSpPr>
          <p:nvPr/>
        </p:nvSpPr>
        <p:spPr>
          <a:xfrm>
            <a:off x="6267450" y="5238750"/>
            <a:ext cx="531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按支持宽度选尺度 0.75–2.0 px</a:t>
            </a:r>
          </a:p>
        </p:txBody>
      </p:sp>
      <p:sp>
        <p:nvSpPr>
          <p:cNvPr id="31" name="text-131">
            <a:extLst>
              <a:ext uri="{FF2B5EF4-FFF2-40B4-BE49-F238E27FC236}">
                <a16:creationId xmlns:a16="http://schemas.microsoft.com/office/drawing/2014/main" id="{C632BF5E-6721-417F-A811-813C3999579F}"/>
              </a:ext>
            </a:extLst>
          </p:cNvPr>
          <p:cNvSpPr>
            <a:spLocks noGrp="1"/>
          </p:cNvSpPr>
          <p:nvPr/>
        </p:nvSpPr>
        <p:spPr>
          <a:xfrm>
            <a:off x="6267450" y="5667375"/>
            <a:ext cx="53149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7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同尺度共享导数字段</a:t>
            </a:r>
          </a:p>
          <a:p>
            <a:pPr algn="l">
              <a:buNone/>
              <a:defRPr sz="17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逐点批量进行 Hessian 特征分解</a:t>
            </a:r>
          </a:p>
        </p:txBody>
      </p:sp>
    </p:spTree>
    <p:extLst>
      <p:ext uri="{BB962C8B-B14F-4D97-AF65-F5344CB8AC3E}">
        <p14:creationId xmlns:p14="http://schemas.microsoft.com/office/powerpoint/2010/main" val="6888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3F5"/>
            </a:gs>
            <a:gs pos="100000">
              <a:srgbClr val="E3E9EE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DACE059A-EDA2-48E5-850E-73C33336C7AB}"/>
              </a:ext>
            </a:extLst>
          </p:cNvPr>
          <p:cNvCxnSpPr>
            <a:stCxn id="50" idx="3"/>
            <a:endCxn id="51" idx="1"/>
          </p:cNvCxnSpPr>
          <p:nvPr/>
        </p:nvCxnSpPr>
        <p:spPr>
          <a:xfrm flipV="1">
            <a:off x="8201025" y="5538788"/>
            <a:ext cx="990600" cy="442913"/>
          </a:xfrm>
          <a:prstGeom prst="straightConnector1">
            <a:avLst/>
          </a:prstGeom>
          <a:ln w="20003">
            <a:solidFill>
              <a:srgbClr val="526570"/>
            </a:solidFill>
            <a:tailEnd type="triangle" w="sm" len="sm"/>
          </a:ln>
        </p:spPr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80155ED-88EC-40FA-A75D-2F98747FDAE8}"/>
              </a:ext>
            </a:extLst>
          </p:cNvPr>
          <p:cNvCxnSpPr>
            <a:stCxn id="49" idx="3"/>
            <a:endCxn id="51" idx="1"/>
          </p:cNvCxnSpPr>
          <p:nvPr/>
        </p:nvCxnSpPr>
        <p:spPr>
          <a:xfrm>
            <a:off x="8201025" y="5038725"/>
            <a:ext cx="990600" cy="500063"/>
          </a:xfrm>
          <a:prstGeom prst="straightConnector1">
            <a:avLst/>
          </a:prstGeom>
          <a:ln w="20003">
            <a:solidFill>
              <a:srgbClr val="087B97"/>
            </a:solidFill>
            <a:tailEnd type="triangle" w="sm" len="sm"/>
          </a:ln>
        </p:spPr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A8A9B1C-5AA9-4618-82AC-F5170035E11B}"/>
              </a:ext>
            </a:extLst>
          </p:cNvPr>
          <p:cNvCxnSpPr>
            <a:stCxn id="47" idx="2"/>
            <a:endCxn id="50" idx="1"/>
          </p:cNvCxnSpPr>
          <p:nvPr/>
        </p:nvCxnSpPr>
        <p:spPr>
          <a:xfrm flipV="1">
            <a:off x="3848100" y="5981700"/>
            <a:ext cx="1457325" cy="123825"/>
          </a:xfrm>
          <a:prstGeom prst="straightConnector1">
            <a:avLst/>
          </a:prstGeom>
          <a:ln w="20003">
            <a:solidFill>
              <a:srgbClr val="526570"/>
            </a:solidFill>
            <a:tailEnd type="triangle" w="sm" len="sm"/>
          </a:ln>
        </p:spPr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D51495C-47B8-4D30-98B7-BB512308CAEF}"/>
              </a:ext>
            </a:extLst>
          </p:cNvPr>
          <p:cNvCxnSpPr>
            <a:stCxn id="47" idx="3"/>
            <a:endCxn id="49" idx="1"/>
          </p:cNvCxnSpPr>
          <p:nvPr/>
        </p:nvCxnSpPr>
        <p:spPr>
          <a:xfrm flipV="1">
            <a:off x="4572000" y="5038725"/>
            <a:ext cx="733425" cy="485775"/>
          </a:xfrm>
          <a:prstGeom prst="straightConnector1">
            <a:avLst/>
          </a:prstGeom>
          <a:ln w="20003">
            <a:solidFill>
              <a:srgbClr val="087B97"/>
            </a:solidFill>
            <a:tailEnd type="triangle" w="sm" len="sm"/>
          </a:ln>
        </p:spPr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A0837831-B056-4D3E-A00C-2A57539558A4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2609850" y="5514975"/>
            <a:ext cx="514350" cy="9525"/>
          </a:xfrm>
          <a:prstGeom prst="straightConnector1">
            <a:avLst/>
          </a:prstGeom>
          <a:ln w="20003">
            <a:solidFill>
              <a:srgbClr val="087B97"/>
            </a:solidFill>
            <a:tailEnd type="triangle" w="sm" len="sm"/>
          </a:ln>
        </p:spPr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8DEC34C-F9F9-46CA-8B59-D084D360ACB9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 flipV="1">
            <a:off x="7772400" y="3067050"/>
            <a:ext cx="1181100" cy="661988"/>
          </a:xfrm>
          <a:prstGeom prst="straightConnector1">
            <a:avLst/>
          </a:prstGeom>
          <a:ln w="20003">
            <a:solidFill>
              <a:srgbClr val="526570"/>
            </a:solidFill>
            <a:tailEnd type="triangle" w="sm" len="sm"/>
          </a:ln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2ABAE97-772D-4025-A5C0-B2E82EAEEDD2}"/>
              </a:ext>
            </a:extLst>
          </p:cNvPr>
          <p:cNvCxnSpPr>
            <a:stCxn id="34" idx="3"/>
            <a:endCxn id="36" idx="1"/>
          </p:cNvCxnSpPr>
          <p:nvPr/>
        </p:nvCxnSpPr>
        <p:spPr>
          <a:xfrm>
            <a:off x="7772400" y="2566988"/>
            <a:ext cx="1181100" cy="500063"/>
          </a:xfrm>
          <a:prstGeom prst="straightConnector1">
            <a:avLst/>
          </a:prstGeom>
          <a:ln w="20003">
            <a:solidFill>
              <a:srgbClr val="087B97"/>
            </a:solidFill>
            <a:tailEnd type="triangle" w="sm" len="sm"/>
          </a:ln>
        </p:spPr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689E999-DF32-4A60-A22D-C7F612E57D8F}"/>
              </a:ext>
            </a:extLst>
          </p:cNvPr>
          <p:cNvCxnSpPr>
            <a:stCxn id="32" idx="2"/>
            <a:endCxn id="35" idx="1"/>
          </p:cNvCxnSpPr>
          <p:nvPr/>
        </p:nvCxnSpPr>
        <p:spPr>
          <a:xfrm>
            <a:off x="3848100" y="3571875"/>
            <a:ext cx="1457325" cy="157163"/>
          </a:xfrm>
          <a:prstGeom prst="straightConnector1">
            <a:avLst/>
          </a:prstGeom>
          <a:ln w="20003">
            <a:solidFill>
              <a:srgbClr val="526570"/>
            </a:solidFill>
            <a:tailEnd type="triangle" w="sm" len="sm"/>
          </a:ln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7E662E0-E649-46D4-AB5B-961076C1415E}"/>
              </a:ext>
            </a:extLst>
          </p:cNvPr>
          <p:cNvCxnSpPr>
            <a:stCxn id="32" idx="3"/>
            <a:endCxn id="34" idx="1"/>
          </p:cNvCxnSpPr>
          <p:nvPr/>
        </p:nvCxnSpPr>
        <p:spPr>
          <a:xfrm flipV="1">
            <a:off x="4572000" y="2566988"/>
            <a:ext cx="733425" cy="423863"/>
          </a:xfrm>
          <a:prstGeom prst="straightConnector1">
            <a:avLst/>
          </a:prstGeom>
          <a:ln w="20003">
            <a:solidFill>
              <a:srgbClr val="087B97"/>
            </a:solidFill>
            <a:tailEnd type="triangle" w="sm" len="sm"/>
          </a:ln>
        </p:spPr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A41F560-D86F-499E-B3DB-21B1055EC8F8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609850" y="2990850"/>
            <a:ext cx="514350" cy="0"/>
          </a:xfrm>
          <a:prstGeom prst="straightConnector1">
            <a:avLst/>
          </a:prstGeom>
          <a:ln w="20003">
            <a:solidFill>
              <a:srgbClr val="087B97"/>
            </a:solidFill>
            <a:tailEnd type="triangle" w="sm" len="sm"/>
          </a:ln>
        </p:spPr>
      </p:cxnSp>
      <p:sp>
        <p:nvSpPr>
          <p:cNvPr id="29" name="text-132">
            <a:extLst>
              <a:ext uri="{FF2B5EF4-FFF2-40B4-BE49-F238E27FC236}">
                <a16:creationId xmlns:a16="http://schemas.microsoft.com/office/drawing/2014/main" id="{BFF50268-747A-4EC6-87C1-69C5E03B16B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ANNULAR LASER MEASUREMENT</a:t>
            </a:r>
          </a:p>
        </p:txBody>
      </p:sp>
      <p:sp>
        <p:nvSpPr>
          <p:cNvPr id="2" name="object-133">
            <a:extLst>
              <a:ext uri="{FF2B5EF4-FFF2-40B4-BE49-F238E27FC236}">
                <a16:creationId xmlns:a16="http://schemas.microsoft.com/office/drawing/2014/main" id="{54E49A99-313C-4D0E-83DD-2BB7E1084183}"/>
              </a:ext>
            </a:extLst>
          </p:cNvPr>
          <p:cNvSpPr>
            <a:spLocks noGrp="1"/>
          </p:cNvSpPr>
          <p:nvPr/>
        </p:nvSpPr>
        <p:spPr>
          <a:xfrm>
            <a:off x="4286250" y="447675"/>
            <a:ext cx="5857875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-134">
            <a:extLst>
              <a:ext uri="{FF2B5EF4-FFF2-40B4-BE49-F238E27FC236}">
                <a16:creationId xmlns:a16="http://schemas.microsoft.com/office/drawing/2014/main" id="{EC79A412-4345-40C3-A78A-F5E5BF02536B}"/>
              </a:ext>
            </a:extLst>
          </p:cNvPr>
          <p:cNvSpPr>
            <a:spLocks noGrp="1"/>
          </p:cNvSpPr>
          <p:nvPr/>
        </p:nvSpPr>
        <p:spPr>
          <a:xfrm>
            <a:off x="10668000" y="29527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buNone/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07 / 08</a:t>
            </a:r>
          </a:p>
        </p:txBody>
      </p:sp>
      <p:sp>
        <p:nvSpPr>
          <p:cNvPr id="4" name="text-135">
            <a:extLst>
              <a:ext uri="{FF2B5EF4-FFF2-40B4-BE49-F238E27FC236}">
                <a16:creationId xmlns:a16="http://schemas.microsoft.com/office/drawing/2014/main" id="{E9CC2485-97C8-4A15-A968-BBD9F4E1B86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质量判断与中心线输出</a:t>
            </a:r>
          </a:p>
        </p:txBody>
      </p:sp>
      <p:sp>
        <p:nvSpPr>
          <p:cNvPr id="5" name="text-136">
            <a:extLst>
              <a:ext uri="{FF2B5EF4-FFF2-40B4-BE49-F238E27FC236}">
                <a16:creationId xmlns:a16="http://schemas.microsoft.com/office/drawing/2014/main" id="{3F092D5C-8ABA-46BA-B885-95C51E2E8606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无有效粗定位信号或区域不合法时，直接标记缺失</a:t>
            </a:r>
          </a:p>
        </p:txBody>
      </p:sp>
      <p:sp>
        <p:nvSpPr>
          <p:cNvPr id="6" name="object-137">
            <a:extLst>
              <a:ext uri="{FF2B5EF4-FFF2-40B4-BE49-F238E27FC236}">
                <a16:creationId xmlns:a16="http://schemas.microsoft.com/office/drawing/2014/main" id="{38DD79B3-2C2C-443B-8B9C-7D5B9FD3558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138">
            <a:extLst>
              <a:ext uri="{FF2B5EF4-FFF2-40B4-BE49-F238E27FC236}">
                <a16:creationId xmlns:a16="http://schemas.microsoft.com/office/drawing/2014/main" id="{D0563675-7497-4E21-9A11-B6FF632B8935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buNone/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环形激光内径测量</a:t>
            </a:r>
          </a:p>
        </p:txBody>
      </p:sp>
      <p:sp>
        <p:nvSpPr>
          <p:cNvPr id="30" name="revision-text-3">
            <a:extLst>
              <a:ext uri="{FF2B5EF4-FFF2-40B4-BE49-F238E27FC236}">
                <a16:creationId xmlns:a16="http://schemas.microsoft.com/office/drawing/2014/main" id="{CCCCA1A3-0F79-4501-AAAC-48E7BF18FDF4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5429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第一层  法线采样回退</a:t>
            </a:r>
          </a:p>
        </p:txBody>
      </p:sp>
      <p:sp>
        <p:nvSpPr>
          <p:cNvPr id="31" name="revision-node-4">
            <a:extLst>
              <a:ext uri="{FF2B5EF4-FFF2-40B4-BE49-F238E27FC236}">
                <a16:creationId xmlns:a16="http://schemas.microsoft.com/office/drawing/2014/main" id="{36DAD97F-45A0-4768-8D5E-7C7D205E4D06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2000250" cy="647700"/>
          </a:xfrm>
          <a:prstGeom prst="rect">
            <a:avLst/>
          </a:prstGeom>
          <a:solidFill>
            <a:srgbClr val="FAFCFD"/>
          </a:solidFill>
          <a:ln w="15240">
            <a:solidFill>
              <a:srgbClr val="087B97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有效粗定位重心</a:t>
            </a:r>
          </a:p>
        </p:txBody>
      </p:sp>
      <p:sp>
        <p:nvSpPr>
          <p:cNvPr id="32" name="revision-decision-5">
            <a:extLst>
              <a:ext uri="{FF2B5EF4-FFF2-40B4-BE49-F238E27FC236}">
                <a16:creationId xmlns:a16="http://schemas.microsoft.com/office/drawing/2014/main" id="{BDC8B6E1-30A4-4B36-BD68-95EC47646718}"/>
              </a:ext>
            </a:extLst>
          </p:cNvPr>
          <p:cNvSpPr>
            <a:spLocks noGrp="1"/>
          </p:cNvSpPr>
          <p:nvPr/>
        </p:nvSpPr>
        <p:spPr>
          <a:xfrm>
            <a:off x="3124200" y="2409825"/>
            <a:ext cx="1447800" cy="1162050"/>
          </a:xfrm>
          <a:prstGeom prst="diamond">
            <a:avLst/>
          </a:prstGeom>
          <a:solidFill>
            <a:srgbClr val="FAFCFD"/>
          </a:solidFill>
          <a:ln w="17145">
            <a:solidFill>
              <a:srgbClr val="087B9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revision-text-6">
            <a:extLst>
              <a:ext uri="{FF2B5EF4-FFF2-40B4-BE49-F238E27FC236}">
                <a16:creationId xmlns:a16="http://schemas.microsoft.com/office/drawing/2014/main" id="{268828AC-43DE-4328-9A57-A925A34CE0A2}"/>
              </a:ext>
            </a:extLst>
          </p:cNvPr>
          <p:cNvSpPr>
            <a:spLocks noGrp="1"/>
          </p:cNvSpPr>
          <p:nvPr/>
        </p:nvSpPr>
        <p:spPr>
          <a:xfrm>
            <a:off x="3276600" y="2676525"/>
            <a:ext cx="11430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法线重心</a:t>
            </a:r>
          </a:p>
          <a:p>
            <a:pPr algn="ctr">
              <a:def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可用？</a:t>
            </a:r>
          </a:p>
        </p:txBody>
      </p:sp>
      <p:sp>
        <p:nvSpPr>
          <p:cNvPr id="34" name="revision-node-7">
            <a:extLst>
              <a:ext uri="{FF2B5EF4-FFF2-40B4-BE49-F238E27FC236}">
                <a16:creationId xmlns:a16="http://schemas.microsoft.com/office/drawing/2014/main" id="{AC05A5D8-7651-417D-B129-98535155E33F}"/>
              </a:ext>
            </a:extLst>
          </p:cNvPr>
          <p:cNvSpPr>
            <a:spLocks noGrp="1"/>
          </p:cNvSpPr>
          <p:nvPr/>
        </p:nvSpPr>
        <p:spPr>
          <a:xfrm>
            <a:off x="5305425" y="2257425"/>
            <a:ext cx="2466975" cy="619125"/>
          </a:xfrm>
          <a:prstGeom prst="rect">
            <a:avLst/>
          </a:prstGeom>
          <a:solidFill>
            <a:srgbClr val="FAFCFD"/>
          </a:solidFill>
          <a:ln w="15240">
            <a:solidFill>
              <a:srgbClr val="087B97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法线灰度重心</a:t>
            </a:r>
          </a:p>
        </p:txBody>
      </p:sp>
      <p:sp>
        <p:nvSpPr>
          <p:cNvPr id="35" name="revision-node-8">
            <a:extLst>
              <a:ext uri="{FF2B5EF4-FFF2-40B4-BE49-F238E27FC236}">
                <a16:creationId xmlns:a16="http://schemas.microsoft.com/office/drawing/2014/main" id="{BB293F3D-CD88-467C-9FAF-AC3E1647C0CB}"/>
              </a:ext>
            </a:extLst>
          </p:cNvPr>
          <p:cNvSpPr>
            <a:spLocks noGrp="1"/>
          </p:cNvSpPr>
          <p:nvPr/>
        </p:nvSpPr>
        <p:spPr>
          <a:xfrm>
            <a:off x="5305425" y="3419475"/>
            <a:ext cx="2466975" cy="619125"/>
          </a:xfrm>
          <a:prstGeom prst="rect">
            <a:avLst/>
          </a:prstGeom>
          <a:solidFill>
            <a:srgbClr val="E1E6EA"/>
          </a:solidFill>
          <a:ln w="15240">
            <a:solidFill>
              <a:srgbClr val="9BA9B2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>
            <a:defPPr algn="ctr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粗定位灰度重心</a:t>
            </a:r>
          </a:p>
        </p:txBody>
      </p:sp>
      <p:sp>
        <p:nvSpPr>
          <p:cNvPr id="36" name="revision-node-9">
            <a:extLst>
              <a:ext uri="{FF2B5EF4-FFF2-40B4-BE49-F238E27FC236}">
                <a16:creationId xmlns:a16="http://schemas.microsoft.com/office/drawing/2014/main" id="{217190B2-E4B7-486F-AD86-8A6A84F6E67D}"/>
              </a:ext>
            </a:extLst>
          </p:cNvPr>
          <p:cNvSpPr>
            <a:spLocks noGrp="1"/>
          </p:cNvSpPr>
          <p:nvPr/>
        </p:nvSpPr>
        <p:spPr>
          <a:xfrm>
            <a:off x="8953500" y="2733675"/>
            <a:ext cx="2619375" cy="666750"/>
          </a:xfrm>
          <a:prstGeom prst="rect">
            <a:avLst/>
          </a:prstGeom>
          <a:solidFill>
            <a:srgbClr val="FAFCFD"/>
          </a:solidFill>
          <a:ln w="15240">
            <a:solidFill>
              <a:srgbClr val="087B97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有效中心初值</a:t>
            </a:r>
          </a:p>
        </p:txBody>
      </p:sp>
      <p:sp>
        <p:nvSpPr>
          <p:cNvPr id="37" name="revision-text-10">
            <a:extLst>
              <a:ext uri="{FF2B5EF4-FFF2-40B4-BE49-F238E27FC236}">
                <a16:creationId xmlns:a16="http://schemas.microsoft.com/office/drawing/2014/main" id="{0C452DAD-008A-482C-8CA1-4C3EEC64F5E5}"/>
              </a:ext>
            </a:extLst>
          </p:cNvPr>
          <p:cNvSpPr>
            <a:spLocks noGrp="1"/>
          </p:cNvSpPr>
          <p:nvPr/>
        </p:nvSpPr>
        <p:spPr>
          <a:xfrm>
            <a:off x="8953500" y="35718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作为下层 Steger 初值</a:t>
            </a:r>
          </a:p>
        </p:txBody>
      </p:sp>
      <p:sp>
        <p:nvSpPr>
          <p:cNvPr id="43" name="revision-text-11">
            <a:extLst>
              <a:ext uri="{FF2B5EF4-FFF2-40B4-BE49-F238E27FC236}">
                <a16:creationId xmlns:a16="http://schemas.microsoft.com/office/drawing/2014/main" id="{E1AC301A-05D5-4082-8ED4-174DA922D323}"/>
              </a:ext>
            </a:extLst>
          </p:cNvPr>
          <p:cNvSpPr>
            <a:spLocks noGrp="1"/>
          </p:cNvSpPr>
          <p:nvPr/>
        </p:nvSpPr>
        <p:spPr>
          <a:xfrm>
            <a:off x="4648200" y="2466975"/>
            <a:ext cx="666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5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rPr>
              <a:t>可用</a:t>
            </a:r>
          </a:p>
        </p:txBody>
      </p:sp>
      <p:sp>
        <p:nvSpPr>
          <p:cNvPr id="44" name="revision-text-12">
            <a:extLst>
              <a:ext uri="{FF2B5EF4-FFF2-40B4-BE49-F238E27FC236}">
                <a16:creationId xmlns:a16="http://schemas.microsoft.com/office/drawing/2014/main" id="{FF8A30B2-C4F2-43BC-ACAE-EB5205D8A2C4}"/>
              </a:ext>
            </a:extLst>
          </p:cNvPr>
          <p:cNvSpPr>
            <a:spLocks noGrp="1"/>
          </p:cNvSpPr>
          <p:nvPr/>
        </p:nvSpPr>
        <p:spPr>
          <a:xfrm>
            <a:off x="3990975" y="3714750"/>
            <a:ext cx="12858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截断或无效</a:t>
            </a:r>
          </a:p>
        </p:txBody>
      </p:sp>
      <p:sp>
        <p:nvSpPr>
          <p:cNvPr id="45" name="revision-text-13">
            <a:extLst>
              <a:ext uri="{FF2B5EF4-FFF2-40B4-BE49-F238E27FC236}">
                <a16:creationId xmlns:a16="http://schemas.microsoft.com/office/drawing/2014/main" id="{6DF87852-B789-4735-A504-3114D447CE13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429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第二层  Steger 精修回退</a:t>
            </a:r>
          </a:p>
        </p:txBody>
      </p:sp>
      <p:sp>
        <p:nvSpPr>
          <p:cNvPr id="46" name="revision-node-14">
            <a:extLst>
              <a:ext uri="{FF2B5EF4-FFF2-40B4-BE49-F238E27FC236}">
                <a16:creationId xmlns:a16="http://schemas.microsoft.com/office/drawing/2014/main" id="{AA70C430-67F0-4185-BEB0-8B7214EC0A87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2000250" cy="647700"/>
          </a:xfrm>
          <a:prstGeom prst="rect">
            <a:avLst/>
          </a:prstGeom>
          <a:solidFill>
            <a:srgbClr val="FAFCFD"/>
          </a:solidFill>
          <a:ln w="15240">
            <a:solidFill>
              <a:srgbClr val="087B97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有效中心初值</a:t>
            </a:r>
          </a:p>
        </p:txBody>
      </p:sp>
      <p:sp>
        <p:nvSpPr>
          <p:cNvPr id="47" name="revision-decision-15">
            <a:extLst>
              <a:ext uri="{FF2B5EF4-FFF2-40B4-BE49-F238E27FC236}">
                <a16:creationId xmlns:a16="http://schemas.microsoft.com/office/drawing/2014/main" id="{3FAC20F4-57AF-4AD5-80B0-ECFFA9604C6B}"/>
              </a:ext>
            </a:extLst>
          </p:cNvPr>
          <p:cNvSpPr>
            <a:spLocks noGrp="1"/>
          </p:cNvSpPr>
          <p:nvPr/>
        </p:nvSpPr>
        <p:spPr>
          <a:xfrm>
            <a:off x="3124200" y="4943475"/>
            <a:ext cx="1447800" cy="1162050"/>
          </a:xfrm>
          <a:prstGeom prst="diamond">
            <a:avLst/>
          </a:prstGeom>
          <a:solidFill>
            <a:srgbClr val="FAFCFD"/>
          </a:solidFill>
          <a:ln w="17145">
            <a:solidFill>
              <a:srgbClr val="087B9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vision-text-16">
            <a:extLst>
              <a:ext uri="{FF2B5EF4-FFF2-40B4-BE49-F238E27FC236}">
                <a16:creationId xmlns:a16="http://schemas.microsoft.com/office/drawing/2014/main" id="{5F1ADF87-110B-4C73-B68D-5329E9D76E6E}"/>
              </a:ext>
            </a:extLst>
          </p:cNvPr>
          <p:cNvSpPr>
            <a:spLocks noGrp="1"/>
          </p:cNvSpPr>
          <p:nvPr/>
        </p:nvSpPr>
        <p:spPr>
          <a:xfrm>
            <a:off x="3276600" y="5210175"/>
            <a:ext cx="11430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精修</a:t>
            </a:r>
          </a:p>
          <a:p>
            <a:pPr algn="ctr">
              <a:def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通过？</a:t>
            </a:r>
          </a:p>
        </p:txBody>
      </p:sp>
      <p:sp>
        <p:nvSpPr>
          <p:cNvPr id="49" name="revision-node-17">
            <a:extLst>
              <a:ext uri="{FF2B5EF4-FFF2-40B4-BE49-F238E27FC236}">
                <a16:creationId xmlns:a16="http://schemas.microsoft.com/office/drawing/2014/main" id="{71198B00-B558-4768-AE63-AAB7D7BCF6A1}"/>
              </a:ext>
            </a:extLst>
          </p:cNvPr>
          <p:cNvSpPr>
            <a:spLocks noGrp="1"/>
          </p:cNvSpPr>
          <p:nvPr/>
        </p:nvSpPr>
        <p:spPr>
          <a:xfrm>
            <a:off x="5305425" y="4743450"/>
            <a:ext cx="2895600" cy="590550"/>
          </a:xfrm>
          <a:prstGeom prst="rect">
            <a:avLst/>
          </a:prstGeom>
          <a:solidFill>
            <a:srgbClr val="FAFCFD"/>
          </a:solidFill>
          <a:ln w="15240">
            <a:solidFill>
              <a:srgbClr val="087B97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Steger 精修点</a:t>
            </a:r>
          </a:p>
        </p:txBody>
      </p:sp>
      <p:sp>
        <p:nvSpPr>
          <p:cNvPr id="50" name="revision-node-18">
            <a:extLst>
              <a:ext uri="{FF2B5EF4-FFF2-40B4-BE49-F238E27FC236}">
                <a16:creationId xmlns:a16="http://schemas.microsoft.com/office/drawing/2014/main" id="{38BDADB0-D179-44CF-972C-166AF4ACBE9E}"/>
              </a:ext>
            </a:extLst>
          </p:cNvPr>
          <p:cNvSpPr>
            <a:spLocks noGrp="1"/>
          </p:cNvSpPr>
          <p:nvPr/>
        </p:nvSpPr>
        <p:spPr>
          <a:xfrm>
            <a:off x="5305425" y="5667375"/>
            <a:ext cx="2895600" cy="628650"/>
          </a:xfrm>
          <a:prstGeom prst="rect">
            <a:avLst/>
          </a:prstGeom>
          <a:solidFill>
            <a:srgbClr val="E1E6EA"/>
          </a:solidFill>
          <a:ln w="15240">
            <a:solidFill>
              <a:srgbClr val="9BA9B2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>
            <a:defPPr algn="ctr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保留初值</a:t>
            </a:r>
          </a:p>
          <a:p>
            <a:pPr algn="ctr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法线或粗定位重心</a:t>
            </a:r>
          </a:p>
        </p:txBody>
      </p:sp>
      <p:sp>
        <p:nvSpPr>
          <p:cNvPr id="51" name="revision-node-19">
            <a:extLst>
              <a:ext uri="{FF2B5EF4-FFF2-40B4-BE49-F238E27FC236}">
                <a16:creationId xmlns:a16="http://schemas.microsoft.com/office/drawing/2014/main" id="{FC4C3124-E720-41F2-87AD-40D19D068C01}"/>
              </a:ext>
            </a:extLst>
          </p:cNvPr>
          <p:cNvSpPr>
            <a:spLocks noGrp="1"/>
          </p:cNvSpPr>
          <p:nvPr/>
        </p:nvSpPr>
        <p:spPr>
          <a:xfrm>
            <a:off x="9191625" y="5229225"/>
            <a:ext cx="2381250" cy="619125"/>
          </a:xfrm>
          <a:prstGeom prst="rect">
            <a:avLst/>
          </a:prstGeom>
          <a:solidFill>
            <a:srgbClr val="FAFCFD"/>
          </a:solidFill>
          <a:ln w="15240">
            <a:solidFill>
              <a:srgbClr val="087B97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>
            <a:def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>
              <a:def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有效中心点输出</a:t>
            </a:r>
          </a:p>
        </p:txBody>
      </p:sp>
      <p:sp>
        <p:nvSpPr>
          <p:cNvPr id="57" name="revision-text-20">
            <a:extLst>
              <a:ext uri="{FF2B5EF4-FFF2-40B4-BE49-F238E27FC236}">
                <a16:creationId xmlns:a16="http://schemas.microsoft.com/office/drawing/2014/main" id="{39B7C6A6-D994-4C18-928A-C906CC5EEAAD}"/>
              </a:ext>
            </a:extLst>
          </p:cNvPr>
          <p:cNvSpPr>
            <a:spLocks noGrp="1"/>
          </p:cNvSpPr>
          <p:nvPr/>
        </p:nvSpPr>
        <p:spPr>
          <a:xfrm>
            <a:off x="4648200" y="4972050"/>
            <a:ext cx="666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5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087B97"/>
                </a:solidFill>
                <a:latin typeface="Noto Sans CJK SC"/>
                <a:ea typeface="Noto Sans CJK SC"/>
                <a:cs typeface="Noto Sans CJK SC"/>
              </a:rPr>
              <a:t>通过</a:t>
            </a:r>
          </a:p>
        </p:txBody>
      </p:sp>
      <p:sp>
        <p:nvSpPr>
          <p:cNvPr id="58" name="revision-text-21">
            <a:extLst>
              <a:ext uri="{FF2B5EF4-FFF2-40B4-BE49-F238E27FC236}">
                <a16:creationId xmlns:a16="http://schemas.microsoft.com/office/drawing/2014/main" id="{D6553044-F704-4F21-A247-FFF5DAE50A41}"/>
              </a:ext>
            </a:extLst>
          </p:cNvPr>
          <p:cNvSpPr>
            <a:spLocks noGrp="1"/>
          </p:cNvSpPr>
          <p:nvPr/>
        </p:nvSpPr>
        <p:spPr>
          <a:xfrm>
            <a:off x="4305300" y="5667375"/>
            <a:ext cx="9810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未通过</a:t>
            </a:r>
          </a:p>
        </p:txBody>
      </p:sp>
    </p:spTree>
    <p:extLst>
      <p:ext uri="{BB962C8B-B14F-4D97-AF65-F5344CB8AC3E}">
        <p14:creationId xmlns:p14="http://schemas.microsoft.com/office/powerpoint/2010/main" val="89574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3F5"/>
            </a:gs>
            <a:gs pos="100000">
              <a:srgbClr val="E3E9EE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155">
            <a:extLst>
              <a:ext uri="{FF2B5EF4-FFF2-40B4-BE49-F238E27FC236}">
                <a16:creationId xmlns:a16="http://schemas.microsoft.com/office/drawing/2014/main" id="{6D9EC4A4-746A-436A-9F8E-7FB96B16D3F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ANNULAR LASER MEASUREMENT</a:t>
            </a:r>
          </a:p>
        </p:txBody>
      </p:sp>
      <p:sp>
        <p:nvSpPr>
          <p:cNvPr id="2" name="object-156">
            <a:extLst>
              <a:ext uri="{FF2B5EF4-FFF2-40B4-BE49-F238E27FC236}">
                <a16:creationId xmlns:a16="http://schemas.microsoft.com/office/drawing/2014/main" id="{6615B5AF-9390-4395-B0C1-FA466E19822D}"/>
              </a:ext>
            </a:extLst>
          </p:cNvPr>
          <p:cNvSpPr>
            <a:spLocks noGrp="1"/>
          </p:cNvSpPr>
          <p:nvPr/>
        </p:nvSpPr>
        <p:spPr>
          <a:xfrm>
            <a:off x="4286250" y="447675"/>
            <a:ext cx="5857875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-157">
            <a:extLst>
              <a:ext uri="{FF2B5EF4-FFF2-40B4-BE49-F238E27FC236}">
                <a16:creationId xmlns:a16="http://schemas.microsoft.com/office/drawing/2014/main" id="{FF420358-ECE7-46C8-9DBA-4BE97A33A946}"/>
              </a:ext>
            </a:extLst>
          </p:cNvPr>
          <p:cNvSpPr>
            <a:spLocks noGrp="1"/>
          </p:cNvSpPr>
          <p:nvPr/>
        </p:nvSpPr>
        <p:spPr>
          <a:xfrm>
            <a:off x="10668000" y="29527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08 / 08</a:t>
            </a:r>
          </a:p>
        </p:txBody>
      </p:sp>
      <p:sp>
        <p:nvSpPr>
          <p:cNvPr id="4" name="text-158">
            <a:extLst>
              <a:ext uri="{FF2B5EF4-FFF2-40B4-BE49-F238E27FC236}">
                <a16:creationId xmlns:a16="http://schemas.microsoft.com/office/drawing/2014/main" id="{C3C20E53-AAA3-4027-840C-544050165A1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3300" b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 dirty="0" err="1">
                <a:solidFill>
                  <a:srgbClr val="142431"/>
                </a:solidFill>
                <a:latin typeface="Noto Sans CJK SC"/>
                <a:ea typeface="Noto Sans CJK SC"/>
                <a:cs typeface="Noto Sans CJK SC"/>
              </a:rPr>
              <a:t>算法实验结果</a:t>
            </a:r>
            <a:endParaRPr sz="3300" b="1" dirty="0">
              <a:solidFill>
                <a:srgbClr val="14243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-159">
            <a:extLst>
              <a:ext uri="{FF2B5EF4-FFF2-40B4-BE49-F238E27FC236}">
                <a16:creationId xmlns:a16="http://schemas.microsoft.com/office/drawing/2014/main" id="{E99AE297-E9F5-4358-9B18-060564EE99AE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512 × 512 单因素仿真，种子 7，每图预热 2 次并计时 10 次</a:t>
            </a:r>
          </a:p>
        </p:txBody>
      </p:sp>
      <p:sp>
        <p:nvSpPr>
          <p:cNvPr id="6" name="object-160">
            <a:extLst>
              <a:ext uri="{FF2B5EF4-FFF2-40B4-BE49-F238E27FC236}">
                <a16:creationId xmlns:a16="http://schemas.microsoft.com/office/drawing/2014/main" id="{279C197D-F8BB-4855-A9B4-494DB45C138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0"/>
          </a:xfrm>
          <a:prstGeom prst="line">
            <a:avLst/>
          </a:prstGeom>
          <a:noFill/>
          <a:ln w="9525">
            <a:solidFill>
              <a:srgbClr val="C4CE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161">
            <a:extLst>
              <a:ext uri="{FF2B5EF4-FFF2-40B4-BE49-F238E27FC236}">
                <a16:creationId xmlns:a16="http://schemas.microsoft.com/office/drawing/2014/main" id="{A4AAEF26-E084-4709-A961-E325E3F836DD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环形激光内径测量</a:t>
            </a:r>
          </a:p>
        </p:txBody>
      </p:sp>
      <p:sp>
        <p:nvSpPr>
          <p:cNvPr id="8" name="text-162">
            <a:extLst>
              <a:ext uri="{FF2B5EF4-FFF2-40B4-BE49-F238E27FC236}">
                <a16:creationId xmlns:a16="http://schemas.microsoft.com/office/drawing/2014/main" id="{AA2AE46E-9877-4718-BC9C-3053F35164B7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424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普通直线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B290BD-54D0-4D78-9A2B-223EC8A026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27" b="40218"/>
          <a:stretch/>
        </p:blipFill>
        <p:spPr>
          <a:xfrm>
            <a:off x="609600" y="2200275"/>
            <a:ext cx="4248150" cy="847725"/>
          </a:xfrm>
          <a:prstGeom prst="rect">
            <a:avLst/>
          </a:prstGeom>
        </p:spPr>
      </p:pic>
      <p:sp>
        <p:nvSpPr>
          <p:cNvPr id="10" name="curve-163">
            <a:extLst>
              <a:ext uri="{FF2B5EF4-FFF2-40B4-BE49-F238E27FC236}">
                <a16:creationId xmlns:a16="http://schemas.microsoft.com/office/drawing/2014/main" id="{47F5EDA6-5D35-4A35-9413-119AF56AFEEB}"/>
              </a:ext>
            </a:extLst>
          </p:cNvPr>
          <p:cNvSpPr>
            <a:spLocks noGrp="1"/>
          </p:cNvSpPr>
          <p:nvPr/>
        </p:nvSpPr>
        <p:spPr>
          <a:xfrm>
            <a:off x="609600" y="2623333"/>
            <a:ext cx="4239853" cy="9525"/>
          </a:xfrm>
          <a:custGeom>
            <a:avLst/>
            <a:gdLst/>
            <a:ahLst/>
            <a:cxnLst/>
            <a:rect l="0" t="0" r="0" b="0"/>
            <a:pathLst>
              <a:path w="4239853" h="9525">
                <a:moveTo>
                  <a:pt x="0" y="1020"/>
                </a:moveTo>
                <a:lnTo>
                  <a:pt x="8298" y="539"/>
                </a:lnTo>
                <a:lnTo>
                  <a:pt x="16593" y="1087"/>
                </a:lnTo>
                <a:lnTo>
                  <a:pt x="24890" y="1139"/>
                </a:lnTo>
                <a:lnTo>
                  <a:pt x="33193" y="1101"/>
                </a:lnTo>
                <a:lnTo>
                  <a:pt x="41480" y="884"/>
                </a:lnTo>
                <a:lnTo>
                  <a:pt x="49765" y="587"/>
                </a:lnTo>
                <a:lnTo>
                  <a:pt x="58080" y="384"/>
                </a:lnTo>
                <a:lnTo>
                  <a:pt x="66375" y="373"/>
                </a:lnTo>
                <a:lnTo>
                  <a:pt x="74670" y="539"/>
                </a:lnTo>
                <a:lnTo>
                  <a:pt x="82988" y="704"/>
                </a:lnTo>
                <a:lnTo>
                  <a:pt x="91268" y="776"/>
                </a:lnTo>
                <a:lnTo>
                  <a:pt x="99569" y="732"/>
                </a:lnTo>
                <a:lnTo>
                  <a:pt x="107853" y="615"/>
                </a:lnTo>
                <a:lnTo>
                  <a:pt x="116163" y="458"/>
                </a:lnTo>
                <a:lnTo>
                  <a:pt x="124457" y="336"/>
                </a:lnTo>
                <a:lnTo>
                  <a:pt x="132752" y="340"/>
                </a:lnTo>
                <a:lnTo>
                  <a:pt x="141058" y="382"/>
                </a:lnTo>
                <a:lnTo>
                  <a:pt x="149349" y="404"/>
                </a:lnTo>
                <a:lnTo>
                  <a:pt x="157644" y="380"/>
                </a:lnTo>
                <a:lnTo>
                  <a:pt x="165946" y="400"/>
                </a:lnTo>
                <a:lnTo>
                  <a:pt x="174232" y="566"/>
                </a:lnTo>
                <a:lnTo>
                  <a:pt x="182537" y="865"/>
                </a:lnTo>
                <a:lnTo>
                  <a:pt x="190837" y="1130"/>
                </a:lnTo>
                <a:lnTo>
                  <a:pt x="199128" y="1229"/>
                </a:lnTo>
                <a:lnTo>
                  <a:pt x="207432" y="1167"/>
                </a:lnTo>
                <a:lnTo>
                  <a:pt x="215726" y="1084"/>
                </a:lnTo>
                <a:lnTo>
                  <a:pt x="224015" y="1077"/>
                </a:lnTo>
                <a:lnTo>
                  <a:pt x="232321" y="1254"/>
                </a:lnTo>
                <a:lnTo>
                  <a:pt x="240618" y="1307"/>
                </a:lnTo>
                <a:lnTo>
                  <a:pt x="248930" y="1233"/>
                </a:lnTo>
                <a:lnTo>
                  <a:pt x="257203" y="1027"/>
                </a:lnTo>
                <a:lnTo>
                  <a:pt x="265513" y="826"/>
                </a:lnTo>
                <a:lnTo>
                  <a:pt x="273806" y="727"/>
                </a:lnTo>
                <a:lnTo>
                  <a:pt x="282104" y="815"/>
                </a:lnTo>
                <a:lnTo>
                  <a:pt x="290404" y="1005"/>
                </a:lnTo>
                <a:lnTo>
                  <a:pt x="298690" y="1202"/>
                </a:lnTo>
                <a:lnTo>
                  <a:pt x="306977" y="1365"/>
                </a:lnTo>
                <a:lnTo>
                  <a:pt x="315290" y="1464"/>
                </a:lnTo>
                <a:lnTo>
                  <a:pt x="323591" y="1402"/>
                </a:lnTo>
                <a:lnTo>
                  <a:pt x="331890" y="1186"/>
                </a:lnTo>
                <a:lnTo>
                  <a:pt x="340178" y="905"/>
                </a:lnTo>
                <a:lnTo>
                  <a:pt x="348479" y="688"/>
                </a:lnTo>
                <a:lnTo>
                  <a:pt x="356770" y="626"/>
                </a:lnTo>
                <a:lnTo>
                  <a:pt x="365088" y="651"/>
                </a:lnTo>
                <a:lnTo>
                  <a:pt x="373376" y="614"/>
                </a:lnTo>
                <a:lnTo>
                  <a:pt x="381670" y="462"/>
                </a:lnTo>
                <a:lnTo>
                  <a:pt x="389968" y="328"/>
                </a:lnTo>
                <a:lnTo>
                  <a:pt x="398265" y="313"/>
                </a:lnTo>
                <a:lnTo>
                  <a:pt x="406563" y="392"/>
                </a:lnTo>
                <a:lnTo>
                  <a:pt x="414860" y="504"/>
                </a:lnTo>
                <a:lnTo>
                  <a:pt x="423155" y="585"/>
                </a:lnTo>
                <a:lnTo>
                  <a:pt x="431453" y="618"/>
                </a:lnTo>
                <a:lnTo>
                  <a:pt x="439748" y="639"/>
                </a:lnTo>
                <a:lnTo>
                  <a:pt x="448046" y="661"/>
                </a:lnTo>
                <a:lnTo>
                  <a:pt x="456344" y="719"/>
                </a:lnTo>
                <a:lnTo>
                  <a:pt x="464634" y="848"/>
                </a:lnTo>
                <a:lnTo>
                  <a:pt x="472943" y="992"/>
                </a:lnTo>
                <a:lnTo>
                  <a:pt x="481233" y="1138"/>
                </a:lnTo>
                <a:lnTo>
                  <a:pt x="489532" y="1170"/>
                </a:lnTo>
                <a:lnTo>
                  <a:pt x="497822" y="1046"/>
                </a:lnTo>
                <a:lnTo>
                  <a:pt x="506142" y="825"/>
                </a:lnTo>
                <a:lnTo>
                  <a:pt x="514419" y="593"/>
                </a:lnTo>
                <a:lnTo>
                  <a:pt x="522719" y="462"/>
                </a:lnTo>
                <a:lnTo>
                  <a:pt x="531020" y="419"/>
                </a:lnTo>
                <a:lnTo>
                  <a:pt x="539316" y="427"/>
                </a:lnTo>
                <a:lnTo>
                  <a:pt x="547614" y="510"/>
                </a:lnTo>
                <a:lnTo>
                  <a:pt x="555910" y="693"/>
                </a:lnTo>
                <a:lnTo>
                  <a:pt x="564206" y="863"/>
                </a:lnTo>
                <a:lnTo>
                  <a:pt x="572507" y="885"/>
                </a:lnTo>
                <a:lnTo>
                  <a:pt x="580808" y="859"/>
                </a:lnTo>
                <a:lnTo>
                  <a:pt x="589108" y="941"/>
                </a:lnTo>
                <a:lnTo>
                  <a:pt x="597391" y="1121"/>
                </a:lnTo>
                <a:lnTo>
                  <a:pt x="605700" y="1218"/>
                </a:lnTo>
                <a:lnTo>
                  <a:pt x="613995" y="1136"/>
                </a:lnTo>
                <a:lnTo>
                  <a:pt x="622291" y="887"/>
                </a:lnTo>
                <a:lnTo>
                  <a:pt x="630580" y="691"/>
                </a:lnTo>
                <a:lnTo>
                  <a:pt x="638885" y="631"/>
                </a:lnTo>
                <a:lnTo>
                  <a:pt x="647180" y="693"/>
                </a:lnTo>
                <a:lnTo>
                  <a:pt x="655472" y="839"/>
                </a:lnTo>
                <a:lnTo>
                  <a:pt x="663776" y="960"/>
                </a:lnTo>
                <a:lnTo>
                  <a:pt x="672065" y="973"/>
                </a:lnTo>
                <a:lnTo>
                  <a:pt x="680366" y="819"/>
                </a:lnTo>
                <a:lnTo>
                  <a:pt x="688658" y="563"/>
                </a:lnTo>
                <a:lnTo>
                  <a:pt x="696949" y="467"/>
                </a:lnTo>
                <a:lnTo>
                  <a:pt x="705250" y="612"/>
                </a:lnTo>
                <a:lnTo>
                  <a:pt x="713564" y="896"/>
                </a:lnTo>
                <a:lnTo>
                  <a:pt x="721851" y="1075"/>
                </a:lnTo>
                <a:lnTo>
                  <a:pt x="730150" y="1035"/>
                </a:lnTo>
                <a:lnTo>
                  <a:pt x="738453" y="879"/>
                </a:lnTo>
                <a:lnTo>
                  <a:pt x="746750" y="728"/>
                </a:lnTo>
                <a:lnTo>
                  <a:pt x="755045" y="629"/>
                </a:lnTo>
                <a:lnTo>
                  <a:pt x="763331" y="653"/>
                </a:lnTo>
                <a:lnTo>
                  <a:pt x="771634" y="765"/>
                </a:lnTo>
                <a:lnTo>
                  <a:pt x="779931" y="917"/>
                </a:lnTo>
                <a:lnTo>
                  <a:pt x="788228" y="1007"/>
                </a:lnTo>
                <a:lnTo>
                  <a:pt x="796529" y="1047"/>
                </a:lnTo>
                <a:lnTo>
                  <a:pt x="804820" y="1005"/>
                </a:lnTo>
                <a:lnTo>
                  <a:pt x="813109" y="835"/>
                </a:lnTo>
                <a:lnTo>
                  <a:pt x="821413" y="622"/>
                </a:lnTo>
                <a:lnTo>
                  <a:pt x="829703" y="587"/>
                </a:lnTo>
                <a:lnTo>
                  <a:pt x="838002" y="747"/>
                </a:lnTo>
                <a:lnTo>
                  <a:pt x="846314" y="945"/>
                </a:lnTo>
                <a:lnTo>
                  <a:pt x="854609" y="1016"/>
                </a:lnTo>
                <a:lnTo>
                  <a:pt x="862907" y="978"/>
                </a:lnTo>
                <a:lnTo>
                  <a:pt x="871201" y="945"/>
                </a:lnTo>
                <a:lnTo>
                  <a:pt x="879504" y="950"/>
                </a:lnTo>
                <a:lnTo>
                  <a:pt x="887795" y="935"/>
                </a:lnTo>
                <a:lnTo>
                  <a:pt x="896097" y="895"/>
                </a:lnTo>
                <a:lnTo>
                  <a:pt x="904378" y="787"/>
                </a:lnTo>
                <a:lnTo>
                  <a:pt x="912697" y="627"/>
                </a:lnTo>
                <a:lnTo>
                  <a:pt x="920980" y="456"/>
                </a:lnTo>
                <a:lnTo>
                  <a:pt x="929282" y="415"/>
                </a:lnTo>
                <a:lnTo>
                  <a:pt x="937578" y="542"/>
                </a:lnTo>
                <a:lnTo>
                  <a:pt x="945875" y="760"/>
                </a:lnTo>
                <a:lnTo>
                  <a:pt x="954169" y="922"/>
                </a:lnTo>
                <a:lnTo>
                  <a:pt x="962471" y="923"/>
                </a:lnTo>
                <a:lnTo>
                  <a:pt x="970785" y="811"/>
                </a:lnTo>
                <a:lnTo>
                  <a:pt x="979059" y="729"/>
                </a:lnTo>
                <a:lnTo>
                  <a:pt x="987362" y="763"/>
                </a:lnTo>
                <a:lnTo>
                  <a:pt x="995665" y="858"/>
                </a:lnTo>
                <a:lnTo>
                  <a:pt x="1003955" y="893"/>
                </a:lnTo>
                <a:lnTo>
                  <a:pt x="1012259" y="855"/>
                </a:lnTo>
                <a:lnTo>
                  <a:pt x="1020554" y="863"/>
                </a:lnTo>
                <a:lnTo>
                  <a:pt x="1028846" y="1024"/>
                </a:lnTo>
                <a:lnTo>
                  <a:pt x="1037127" y="1294"/>
                </a:lnTo>
                <a:lnTo>
                  <a:pt x="1045448" y="1431"/>
                </a:lnTo>
                <a:lnTo>
                  <a:pt x="1053722" y="1317"/>
                </a:lnTo>
                <a:lnTo>
                  <a:pt x="1062043" y="1005"/>
                </a:lnTo>
                <a:lnTo>
                  <a:pt x="1070330" y="736"/>
                </a:lnTo>
                <a:lnTo>
                  <a:pt x="1078628" y="653"/>
                </a:lnTo>
                <a:lnTo>
                  <a:pt x="1086941" y="728"/>
                </a:lnTo>
                <a:lnTo>
                  <a:pt x="1095220" y="882"/>
                </a:lnTo>
                <a:lnTo>
                  <a:pt x="1103519" y="1065"/>
                </a:lnTo>
                <a:lnTo>
                  <a:pt x="1111817" y="1245"/>
                </a:lnTo>
                <a:lnTo>
                  <a:pt x="1120118" y="1333"/>
                </a:lnTo>
                <a:lnTo>
                  <a:pt x="1128416" y="1285"/>
                </a:lnTo>
                <a:lnTo>
                  <a:pt x="1136712" y="1085"/>
                </a:lnTo>
                <a:lnTo>
                  <a:pt x="1145010" y="799"/>
                </a:lnTo>
                <a:lnTo>
                  <a:pt x="1153306" y="577"/>
                </a:lnTo>
                <a:lnTo>
                  <a:pt x="1161597" y="508"/>
                </a:lnTo>
                <a:lnTo>
                  <a:pt x="1169902" y="559"/>
                </a:lnTo>
                <a:lnTo>
                  <a:pt x="1178190" y="695"/>
                </a:lnTo>
                <a:lnTo>
                  <a:pt x="1186491" y="779"/>
                </a:lnTo>
                <a:lnTo>
                  <a:pt x="1194773" y="745"/>
                </a:lnTo>
                <a:lnTo>
                  <a:pt x="1203104" y="673"/>
                </a:lnTo>
                <a:lnTo>
                  <a:pt x="1211388" y="680"/>
                </a:lnTo>
                <a:lnTo>
                  <a:pt x="1219685" y="859"/>
                </a:lnTo>
                <a:lnTo>
                  <a:pt x="1227977" y="1079"/>
                </a:lnTo>
                <a:lnTo>
                  <a:pt x="1236278" y="1135"/>
                </a:lnTo>
                <a:lnTo>
                  <a:pt x="1244571" y="997"/>
                </a:lnTo>
                <a:lnTo>
                  <a:pt x="1252874" y="747"/>
                </a:lnTo>
                <a:lnTo>
                  <a:pt x="1261165" y="530"/>
                </a:lnTo>
                <a:lnTo>
                  <a:pt x="1269466" y="422"/>
                </a:lnTo>
                <a:lnTo>
                  <a:pt x="1277747" y="488"/>
                </a:lnTo>
                <a:lnTo>
                  <a:pt x="1286064" y="627"/>
                </a:lnTo>
                <a:lnTo>
                  <a:pt x="1294353" y="781"/>
                </a:lnTo>
                <a:lnTo>
                  <a:pt x="1302648" y="763"/>
                </a:lnTo>
                <a:lnTo>
                  <a:pt x="1310957" y="638"/>
                </a:lnTo>
                <a:lnTo>
                  <a:pt x="1319260" y="478"/>
                </a:lnTo>
                <a:lnTo>
                  <a:pt x="1327552" y="455"/>
                </a:lnTo>
                <a:lnTo>
                  <a:pt x="1335838" y="621"/>
                </a:lnTo>
                <a:lnTo>
                  <a:pt x="1344145" y="854"/>
                </a:lnTo>
                <a:lnTo>
                  <a:pt x="1352442" y="968"/>
                </a:lnTo>
                <a:lnTo>
                  <a:pt x="1360738" y="1069"/>
                </a:lnTo>
                <a:lnTo>
                  <a:pt x="1369019" y="970"/>
                </a:lnTo>
                <a:lnTo>
                  <a:pt x="1377336" y="840"/>
                </a:lnTo>
                <a:lnTo>
                  <a:pt x="1385625" y="736"/>
                </a:lnTo>
                <a:lnTo>
                  <a:pt x="1393919" y="803"/>
                </a:lnTo>
                <a:lnTo>
                  <a:pt x="1402220" y="896"/>
                </a:lnTo>
                <a:lnTo>
                  <a:pt x="1410504" y="835"/>
                </a:lnTo>
                <a:lnTo>
                  <a:pt x="1418836" y="702"/>
                </a:lnTo>
                <a:lnTo>
                  <a:pt x="1427110" y="579"/>
                </a:lnTo>
                <a:lnTo>
                  <a:pt x="1435411" y="563"/>
                </a:lnTo>
                <a:lnTo>
                  <a:pt x="1443713" y="648"/>
                </a:lnTo>
                <a:lnTo>
                  <a:pt x="1452007" y="805"/>
                </a:lnTo>
                <a:lnTo>
                  <a:pt x="1460304" y="967"/>
                </a:lnTo>
                <a:lnTo>
                  <a:pt x="1468600" y="1055"/>
                </a:lnTo>
                <a:lnTo>
                  <a:pt x="1476898" y="1072"/>
                </a:lnTo>
                <a:lnTo>
                  <a:pt x="1485193" y="1066"/>
                </a:lnTo>
                <a:lnTo>
                  <a:pt x="1493490" y="1032"/>
                </a:lnTo>
                <a:lnTo>
                  <a:pt x="1501785" y="924"/>
                </a:lnTo>
                <a:lnTo>
                  <a:pt x="1510086" y="840"/>
                </a:lnTo>
                <a:lnTo>
                  <a:pt x="1518381" y="841"/>
                </a:lnTo>
                <a:lnTo>
                  <a:pt x="1526679" y="899"/>
                </a:lnTo>
                <a:lnTo>
                  <a:pt x="1534972" y="887"/>
                </a:lnTo>
                <a:lnTo>
                  <a:pt x="1543270" y="790"/>
                </a:lnTo>
                <a:lnTo>
                  <a:pt x="1551570" y="674"/>
                </a:lnTo>
                <a:lnTo>
                  <a:pt x="1559866" y="600"/>
                </a:lnTo>
                <a:lnTo>
                  <a:pt x="1568158" y="576"/>
                </a:lnTo>
                <a:lnTo>
                  <a:pt x="1576467" y="584"/>
                </a:lnTo>
                <a:lnTo>
                  <a:pt x="1584763" y="634"/>
                </a:lnTo>
                <a:lnTo>
                  <a:pt x="1593057" y="669"/>
                </a:lnTo>
                <a:lnTo>
                  <a:pt x="1601349" y="644"/>
                </a:lnTo>
                <a:lnTo>
                  <a:pt x="1609659" y="627"/>
                </a:lnTo>
                <a:lnTo>
                  <a:pt x="1617948" y="697"/>
                </a:lnTo>
                <a:lnTo>
                  <a:pt x="1626247" y="935"/>
                </a:lnTo>
                <a:lnTo>
                  <a:pt x="1634537" y="1252"/>
                </a:lnTo>
                <a:lnTo>
                  <a:pt x="1642834" y="1404"/>
                </a:lnTo>
                <a:lnTo>
                  <a:pt x="1651135" y="1350"/>
                </a:lnTo>
                <a:lnTo>
                  <a:pt x="1659434" y="1108"/>
                </a:lnTo>
                <a:lnTo>
                  <a:pt x="1667726" y="799"/>
                </a:lnTo>
                <a:lnTo>
                  <a:pt x="1676023" y="588"/>
                </a:lnTo>
                <a:lnTo>
                  <a:pt x="1684325" y="528"/>
                </a:lnTo>
                <a:lnTo>
                  <a:pt x="1692622" y="565"/>
                </a:lnTo>
                <a:lnTo>
                  <a:pt x="1700920" y="620"/>
                </a:lnTo>
                <a:lnTo>
                  <a:pt x="1709216" y="672"/>
                </a:lnTo>
                <a:lnTo>
                  <a:pt x="1717513" y="708"/>
                </a:lnTo>
                <a:lnTo>
                  <a:pt x="1725811" y="741"/>
                </a:lnTo>
                <a:lnTo>
                  <a:pt x="1734110" y="785"/>
                </a:lnTo>
                <a:lnTo>
                  <a:pt x="1742402" y="790"/>
                </a:lnTo>
                <a:lnTo>
                  <a:pt x="1750704" y="696"/>
                </a:lnTo>
                <a:lnTo>
                  <a:pt x="1758998" y="582"/>
                </a:lnTo>
                <a:lnTo>
                  <a:pt x="1767297" y="540"/>
                </a:lnTo>
                <a:lnTo>
                  <a:pt x="1775593" y="598"/>
                </a:lnTo>
                <a:lnTo>
                  <a:pt x="1783888" y="462"/>
                </a:lnTo>
                <a:lnTo>
                  <a:pt x="1792189" y="405"/>
                </a:lnTo>
                <a:lnTo>
                  <a:pt x="1800492" y="481"/>
                </a:lnTo>
                <a:lnTo>
                  <a:pt x="1808789" y="639"/>
                </a:lnTo>
                <a:lnTo>
                  <a:pt x="1817082" y="795"/>
                </a:lnTo>
                <a:lnTo>
                  <a:pt x="1825380" y="910"/>
                </a:lnTo>
                <a:lnTo>
                  <a:pt x="1833671" y="1058"/>
                </a:lnTo>
                <a:lnTo>
                  <a:pt x="1841996" y="1149"/>
                </a:lnTo>
                <a:lnTo>
                  <a:pt x="1850267" y="1163"/>
                </a:lnTo>
                <a:lnTo>
                  <a:pt x="1858567" y="963"/>
                </a:lnTo>
                <a:lnTo>
                  <a:pt x="1866862" y="763"/>
                </a:lnTo>
                <a:lnTo>
                  <a:pt x="1875159" y="652"/>
                </a:lnTo>
                <a:lnTo>
                  <a:pt x="1883454" y="618"/>
                </a:lnTo>
                <a:lnTo>
                  <a:pt x="1891753" y="597"/>
                </a:lnTo>
                <a:lnTo>
                  <a:pt x="1900051" y="647"/>
                </a:lnTo>
                <a:lnTo>
                  <a:pt x="1908347" y="632"/>
                </a:lnTo>
                <a:lnTo>
                  <a:pt x="1916648" y="647"/>
                </a:lnTo>
                <a:lnTo>
                  <a:pt x="1924950" y="619"/>
                </a:lnTo>
                <a:lnTo>
                  <a:pt x="1933240" y="526"/>
                </a:lnTo>
                <a:lnTo>
                  <a:pt x="1941537" y="455"/>
                </a:lnTo>
                <a:lnTo>
                  <a:pt x="1949834" y="483"/>
                </a:lnTo>
                <a:lnTo>
                  <a:pt x="1958134" y="556"/>
                </a:lnTo>
                <a:lnTo>
                  <a:pt x="1966423" y="575"/>
                </a:lnTo>
                <a:lnTo>
                  <a:pt x="1974726" y="520"/>
                </a:lnTo>
                <a:lnTo>
                  <a:pt x="1983024" y="475"/>
                </a:lnTo>
                <a:lnTo>
                  <a:pt x="1991321" y="496"/>
                </a:lnTo>
                <a:lnTo>
                  <a:pt x="1999618" y="575"/>
                </a:lnTo>
                <a:lnTo>
                  <a:pt x="2007913" y="625"/>
                </a:lnTo>
                <a:lnTo>
                  <a:pt x="2016214" y="643"/>
                </a:lnTo>
                <a:lnTo>
                  <a:pt x="2024510" y="710"/>
                </a:lnTo>
                <a:lnTo>
                  <a:pt x="2032811" y="830"/>
                </a:lnTo>
                <a:lnTo>
                  <a:pt x="2041103" y="869"/>
                </a:lnTo>
                <a:lnTo>
                  <a:pt x="2049398" y="769"/>
                </a:lnTo>
                <a:lnTo>
                  <a:pt x="2057699" y="637"/>
                </a:lnTo>
                <a:lnTo>
                  <a:pt x="2065996" y="581"/>
                </a:lnTo>
                <a:lnTo>
                  <a:pt x="2074294" y="619"/>
                </a:lnTo>
                <a:lnTo>
                  <a:pt x="2082593" y="717"/>
                </a:lnTo>
                <a:lnTo>
                  <a:pt x="2090885" y="900"/>
                </a:lnTo>
                <a:lnTo>
                  <a:pt x="2099185" y="1120"/>
                </a:lnTo>
                <a:lnTo>
                  <a:pt x="2107485" y="1212"/>
                </a:lnTo>
                <a:lnTo>
                  <a:pt x="2115778" y="1104"/>
                </a:lnTo>
                <a:lnTo>
                  <a:pt x="2124073" y="849"/>
                </a:lnTo>
                <a:lnTo>
                  <a:pt x="2132375" y="631"/>
                </a:lnTo>
                <a:lnTo>
                  <a:pt x="2140668" y="495"/>
                </a:lnTo>
                <a:lnTo>
                  <a:pt x="2148968" y="450"/>
                </a:lnTo>
                <a:lnTo>
                  <a:pt x="2157266" y="466"/>
                </a:lnTo>
                <a:lnTo>
                  <a:pt x="2165566" y="581"/>
                </a:lnTo>
                <a:lnTo>
                  <a:pt x="2173864" y="773"/>
                </a:lnTo>
                <a:lnTo>
                  <a:pt x="2182160" y="1011"/>
                </a:lnTo>
                <a:lnTo>
                  <a:pt x="2190457" y="1204"/>
                </a:lnTo>
                <a:lnTo>
                  <a:pt x="2198751" y="1275"/>
                </a:lnTo>
                <a:lnTo>
                  <a:pt x="2207050" y="1193"/>
                </a:lnTo>
                <a:lnTo>
                  <a:pt x="2215333" y="924"/>
                </a:lnTo>
                <a:lnTo>
                  <a:pt x="2223636" y="603"/>
                </a:lnTo>
                <a:lnTo>
                  <a:pt x="2231935" y="417"/>
                </a:lnTo>
                <a:lnTo>
                  <a:pt x="2240237" y="438"/>
                </a:lnTo>
                <a:lnTo>
                  <a:pt x="2248531" y="580"/>
                </a:lnTo>
                <a:lnTo>
                  <a:pt x="2256824" y="712"/>
                </a:lnTo>
                <a:lnTo>
                  <a:pt x="2265120" y="757"/>
                </a:lnTo>
                <a:lnTo>
                  <a:pt x="2273418" y="701"/>
                </a:lnTo>
                <a:lnTo>
                  <a:pt x="2281720" y="620"/>
                </a:lnTo>
                <a:lnTo>
                  <a:pt x="2290019" y="644"/>
                </a:lnTo>
                <a:lnTo>
                  <a:pt x="2298311" y="798"/>
                </a:lnTo>
                <a:lnTo>
                  <a:pt x="2306618" y="970"/>
                </a:lnTo>
                <a:lnTo>
                  <a:pt x="2314909" y="1053"/>
                </a:lnTo>
                <a:lnTo>
                  <a:pt x="2323211" y="1061"/>
                </a:lnTo>
                <a:lnTo>
                  <a:pt x="2331507" y="1011"/>
                </a:lnTo>
                <a:lnTo>
                  <a:pt x="2339786" y="803"/>
                </a:lnTo>
                <a:lnTo>
                  <a:pt x="2348092" y="515"/>
                </a:lnTo>
                <a:lnTo>
                  <a:pt x="2356397" y="328"/>
                </a:lnTo>
                <a:lnTo>
                  <a:pt x="2364700" y="336"/>
                </a:lnTo>
                <a:lnTo>
                  <a:pt x="2372978" y="542"/>
                </a:lnTo>
                <a:lnTo>
                  <a:pt x="2381292" y="754"/>
                </a:lnTo>
                <a:lnTo>
                  <a:pt x="2389584" y="902"/>
                </a:lnTo>
                <a:lnTo>
                  <a:pt x="2397880" y="989"/>
                </a:lnTo>
                <a:lnTo>
                  <a:pt x="2406177" y="1056"/>
                </a:lnTo>
                <a:lnTo>
                  <a:pt x="2414475" y="1090"/>
                </a:lnTo>
                <a:lnTo>
                  <a:pt x="2422766" y="1006"/>
                </a:lnTo>
                <a:lnTo>
                  <a:pt x="2431070" y="832"/>
                </a:lnTo>
                <a:lnTo>
                  <a:pt x="2439366" y="701"/>
                </a:lnTo>
                <a:lnTo>
                  <a:pt x="2447660" y="741"/>
                </a:lnTo>
                <a:lnTo>
                  <a:pt x="2455970" y="861"/>
                </a:lnTo>
                <a:lnTo>
                  <a:pt x="2464264" y="964"/>
                </a:lnTo>
                <a:lnTo>
                  <a:pt x="2472554" y="1028"/>
                </a:lnTo>
                <a:lnTo>
                  <a:pt x="2480852" y="1065"/>
                </a:lnTo>
                <a:lnTo>
                  <a:pt x="2489149" y="1031"/>
                </a:lnTo>
                <a:lnTo>
                  <a:pt x="2497449" y="896"/>
                </a:lnTo>
                <a:lnTo>
                  <a:pt x="2505746" y="734"/>
                </a:lnTo>
                <a:lnTo>
                  <a:pt x="2514041" y="662"/>
                </a:lnTo>
                <a:lnTo>
                  <a:pt x="2522338" y="640"/>
                </a:lnTo>
                <a:lnTo>
                  <a:pt x="2530636" y="607"/>
                </a:lnTo>
                <a:lnTo>
                  <a:pt x="2538925" y="666"/>
                </a:lnTo>
                <a:lnTo>
                  <a:pt x="2547236" y="819"/>
                </a:lnTo>
                <a:lnTo>
                  <a:pt x="2555534" y="947"/>
                </a:lnTo>
                <a:lnTo>
                  <a:pt x="2563826" y="964"/>
                </a:lnTo>
                <a:lnTo>
                  <a:pt x="2572125" y="908"/>
                </a:lnTo>
                <a:lnTo>
                  <a:pt x="2580420" y="898"/>
                </a:lnTo>
                <a:lnTo>
                  <a:pt x="2588716" y="995"/>
                </a:lnTo>
                <a:lnTo>
                  <a:pt x="2597012" y="1168"/>
                </a:lnTo>
                <a:lnTo>
                  <a:pt x="2605310" y="1295"/>
                </a:lnTo>
                <a:lnTo>
                  <a:pt x="2613612" y="1334"/>
                </a:lnTo>
                <a:lnTo>
                  <a:pt x="2621905" y="1308"/>
                </a:lnTo>
                <a:lnTo>
                  <a:pt x="2630205" y="1254"/>
                </a:lnTo>
                <a:lnTo>
                  <a:pt x="2638498" y="1160"/>
                </a:lnTo>
                <a:lnTo>
                  <a:pt x="2646797" y="1052"/>
                </a:lnTo>
                <a:lnTo>
                  <a:pt x="2655093" y="955"/>
                </a:lnTo>
                <a:lnTo>
                  <a:pt x="2663389" y="927"/>
                </a:lnTo>
                <a:lnTo>
                  <a:pt x="2671682" y="1013"/>
                </a:lnTo>
                <a:lnTo>
                  <a:pt x="2679983" y="1136"/>
                </a:lnTo>
                <a:lnTo>
                  <a:pt x="2688282" y="1203"/>
                </a:lnTo>
                <a:lnTo>
                  <a:pt x="2696580" y="1191"/>
                </a:lnTo>
                <a:lnTo>
                  <a:pt x="2704875" y="1127"/>
                </a:lnTo>
                <a:lnTo>
                  <a:pt x="2713175" y="1008"/>
                </a:lnTo>
                <a:lnTo>
                  <a:pt x="2721472" y="837"/>
                </a:lnTo>
                <a:lnTo>
                  <a:pt x="2729769" y="698"/>
                </a:lnTo>
                <a:lnTo>
                  <a:pt x="2738066" y="612"/>
                </a:lnTo>
                <a:lnTo>
                  <a:pt x="2746360" y="540"/>
                </a:lnTo>
                <a:lnTo>
                  <a:pt x="2754661" y="539"/>
                </a:lnTo>
                <a:lnTo>
                  <a:pt x="2762956" y="597"/>
                </a:lnTo>
                <a:lnTo>
                  <a:pt x="2771257" y="654"/>
                </a:lnTo>
                <a:lnTo>
                  <a:pt x="2779552" y="694"/>
                </a:lnTo>
                <a:lnTo>
                  <a:pt x="2787848" y="780"/>
                </a:lnTo>
                <a:lnTo>
                  <a:pt x="2796146" y="920"/>
                </a:lnTo>
                <a:lnTo>
                  <a:pt x="2804443" y="1013"/>
                </a:lnTo>
                <a:lnTo>
                  <a:pt x="2812741" y="1012"/>
                </a:lnTo>
                <a:lnTo>
                  <a:pt x="2821029" y="938"/>
                </a:lnTo>
                <a:lnTo>
                  <a:pt x="2829321" y="773"/>
                </a:lnTo>
                <a:lnTo>
                  <a:pt x="2837626" y="549"/>
                </a:lnTo>
                <a:lnTo>
                  <a:pt x="2845921" y="476"/>
                </a:lnTo>
                <a:lnTo>
                  <a:pt x="2854237" y="549"/>
                </a:lnTo>
                <a:lnTo>
                  <a:pt x="2862542" y="670"/>
                </a:lnTo>
                <a:lnTo>
                  <a:pt x="2870816" y="758"/>
                </a:lnTo>
                <a:lnTo>
                  <a:pt x="2879119" y="760"/>
                </a:lnTo>
                <a:lnTo>
                  <a:pt x="2887415" y="764"/>
                </a:lnTo>
                <a:lnTo>
                  <a:pt x="2895711" y="786"/>
                </a:lnTo>
                <a:lnTo>
                  <a:pt x="2904009" y="807"/>
                </a:lnTo>
                <a:lnTo>
                  <a:pt x="2912299" y="771"/>
                </a:lnTo>
                <a:lnTo>
                  <a:pt x="2920616" y="717"/>
                </a:lnTo>
                <a:lnTo>
                  <a:pt x="2928900" y="704"/>
                </a:lnTo>
                <a:lnTo>
                  <a:pt x="2937198" y="752"/>
                </a:lnTo>
                <a:lnTo>
                  <a:pt x="2945496" y="786"/>
                </a:lnTo>
                <a:lnTo>
                  <a:pt x="2953792" y="710"/>
                </a:lnTo>
                <a:lnTo>
                  <a:pt x="2962076" y="547"/>
                </a:lnTo>
                <a:lnTo>
                  <a:pt x="2970385" y="376"/>
                </a:lnTo>
                <a:lnTo>
                  <a:pt x="2978674" y="333"/>
                </a:lnTo>
                <a:lnTo>
                  <a:pt x="2986976" y="433"/>
                </a:lnTo>
                <a:lnTo>
                  <a:pt x="2995277" y="531"/>
                </a:lnTo>
                <a:lnTo>
                  <a:pt x="3003574" y="542"/>
                </a:lnTo>
                <a:lnTo>
                  <a:pt x="3011863" y="476"/>
                </a:lnTo>
                <a:lnTo>
                  <a:pt x="3020173" y="478"/>
                </a:lnTo>
                <a:lnTo>
                  <a:pt x="3028463" y="555"/>
                </a:lnTo>
                <a:lnTo>
                  <a:pt x="3036781" y="655"/>
                </a:lnTo>
                <a:lnTo>
                  <a:pt x="3045062" y="677"/>
                </a:lnTo>
                <a:lnTo>
                  <a:pt x="3053358" y="556"/>
                </a:lnTo>
                <a:lnTo>
                  <a:pt x="3061651" y="405"/>
                </a:lnTo>
                <a:lnTo>
                  <a:pt x="3069952" y="355"/>
                </a:lnTo>
                <a:lnTo>
                  <a:pt x="3078245" y="415"/>
                </a:lnTo>
                <a:lnTo>
                  <a:pt x="3086550" y="497"/>
                </a:lnTo>
                <a:lnTo>
                  <a:pt x="3094839" y="454"/>
                </a:lnTo>
                <a:lnTo>
                  <a:pt x="3103140" y="346"/>
                </a:lnTo>
                <a:lnTo>
                  <a:pt x="3111438" y="293"/>
                </a:lnTo>
                <a:lnTo>
                  <a:pt x="3119731" y="365"/>
                </a:lnTo>
                <a:lnTo>
                  <a:pt x="3128021" y="555"/>
                </a:lnTo>
                <a:lnTo>
                  <a:pt x="3136327" y="752"/>
                </a:lnTo>
                <a:lnTo>
                  <a:pt x="3144630" y="860"/>
                </a:lnTo>
                <a:lnTo>
                  <a:pt x="3152901" y="851"/>
                </a:lnTo>
                <a:lnTo>
                  <a:pt x="3161226" y="794"/>
                </a:lnTo>
                <a:lnTo>
                  <a:pt x="3169513" y="720"/>
                </a:lnTo>
                <a:lnTo>
                  <a:pt x="3177813" y="732"/>
                </a:lnTo>
                <a:lnTo>
                  <a:pt x="3186122" y="861"/>
                </a:lnTo>
                <a:lnTo>
                  <a:pt x="3194410" y="1037"/>
                </a:lnTo>
                <a:lnTo>
                  <a:pt x="3202701" y="986"/>
                </a:lnTo>
                <a:lnTo>
                  <a:pt x="3210999" y="860"/>
                </a:lnTo>
                <a:lnTo>
                  <a:pt x="3219297" y="689"/>
                </a:lnTo>
                <a:lnTo>
                  <a:pt x="3227598" y="593"/>
                </a:lnTo>
                <a:lnTo>
                  <a:pt x="3235891" y="622"/>
                </a:lnTo>
                <a:lnTo>
                  <a:pt x="3244190" y="746"/>
                </a:lnTo>
                <a:lnTo>
                  <a:pt x="3252488" y="899"/>
                </a:lnTo>
                <a:lnTo>
                  <a:pt x="3260787" y="966"/>
                </a:lnTo>
                <a:lnTo>
                  <a:pt x="3269079" y="911"/>
                </a:lnTo>
                <a:lnTo>
                  <a:pt x="3277367" y="736"/>
                </a:lnTo>
                <a:lnTo>
                  <a:pt x="3285691" y="529"/>
                </a:lnTo>
                <a:lnTo>
                  <a:pt x="3293976" y="421"/>
                </a:lnTo>
                <a:lnTo>
                  <a:pt x="3302276" y="441"/>
                </a:lnTo>
                <a:lnTo>
                  <a:pt x="3310571" y="519"/>
                </a:lnTo>
                <a:lnTo>
                  <a:pt x="3318867" y="628"/>
                </a:lnTo>
                <a:lnTo>
                  <a:pt x="3327174" y="775"/>
                </a:lnTo>
                <a:lnTo>
                  <a:pt x="3335463" y="863"/>
                </a:lnTo>
                <a:lnTo>
                  <a:pt x="3343759" y="825"/>
                </a:lnTo>
                <a:lnTo>
                  <a:pt x="3352059" y="751"/>
                </a:lnTo>
                <a:lnTo>
                  <a:pt x="3360354" y="725"/>
                </a:lnTo>
                <a:lnTo>
                  <a:pt x="3368650" y="741"/>
                </a:lnTo>
                <a:lnTo>
                  <a:pt x="3376946" y="745"/>
                </a:lnTo>
                <a:lnTo>
                  <a:pt x="3385239" y="734"/>
                </a:lnTo>
                <a:lnTo>
                  <a:pt x="3393542" y="837"/>
                </a:lnTo>
                <a:lnTo>
                  <a:pt x="3401846" y="1040"/>
                </a:lnTo>
                <a:lnTo>
                  <a:pt x="3410136" y="1242"/>
                </a:lnTo>
                <a:lnTo>
                  <a:pt x="3418432" y="1310"/>
                </a:lnTo>
                <a:lnTo>
                  <a:pt x="3426729" y="1227"/>
                </a:lnTo>
                <a:lnTo>
                  <a:pt x="3435028" y="1131"/>
                </a:lnTo>
                <a:lnTo>
                  <a:pt x="3443324" y="1006"/>
                </a:lnTo>
                <a:lnTo>
                  <a:pt x="3451621" y="831"/>
                </a:lnTo>
                <a:lnTo>
                  <a:pt x="3459921" y="693"/>
                </a:lnTo>
                <a:lnTo>
                  <a:pt x="3468216" y="631"/>
                </a:lnTo>
                <a:lnTo>
                  <a:pt x="3476516" y="674"/>
                </a:lnTo>
                <a:lnTo>
                  <a:pt x="3484809" y="737"/>
                </a:lnTo>
                <a:lnTo>
                  <a:pt x="3493108" y="768"/>
                </a:lnTo>
                <a:lnTo>
                  <a:pt x="3501407" y="771"/>
                </a:lnTo>
                <a:lnTo>
                  <a:pt x="3509704" y="723"/>
                </a:lnTo>
                <a:lnTo>
                  <a:pt x="3518002" y="642"/>
                </a:lnTo>
                <a:lnTo>
                  <a:pt x="3526299" y="562"/>
                </a:lnTo>
                <a:lnTo>
                  <a:pt x="3534593" y="526"/>
                </a:lnTo>
                <a:lnTo>
                  <a:pt x="3542887" y="622"/>
                </a:lnTo>
                <a:lnTo>
                  <a:pt x="3551185" y="822"/>
                </a:lnTo>
                <a:lnTo>
                  <a:pt x="3559472" y="975"/>
                </a:lnTo>
                <a:lnTo>
                  <a:pt x="3567792" y="1100"/>
                </a:lnTo>
                <a:lnTo>
                  <a:pt x="3576081" y="1211"/>
                </a:lnTo>
                <a:lnTo>
                  <a:pt x="3584381" y="1294"/>
                </a:lnTo>
                <a:lnTo>
                  <a:pt x="3592671" y="1288"/>
                </a:lnTo>
                <a:lnTo>
                  <a:pt x="3600969" y="1154"/>
                </a:lnTo>
                <a:lnTo>
                  <a:pt x="3609264" y="1048"/>
                </a:lnTo>
                <a:lnTo>
                  <a:pt x="3617572" y="962"/>
                </a:lnTo>
                <a:lnTo>
                  <a:pt x="3625863" y="913"/>
                </a:lnTo>
                <a:lnTo>
                  <a:pt x="3634161" y="821"/>
                </a:lnTo>
                <a:lnTo>
                  <a:pt x="3642452" y="843"/>
                </a:lnTo>
                <a:lnTo>
                  <a:pt x="3650754" y="882"/>
                </a:lnTo>
                <a:lnTo>
                  <a:pt x="3659052" y="817"/>
                </a:lnTo>
                <a:lnTo>
                  <a:pt x="3667362" y="620"/>
                </a:lnTo>
                <a:lnTo>
                  <a:pt x="3675642" y="391"/>
                </a:lnTo>
                <a:lnTo>
                  <a:pt x="3683948" y="289"/>
                </a:lnTo>
                <a:lnTo>
                  <a:pt x="3692244" y="258"/>
                </a:lnTo>
                <a:lnTo>
                  <a:pt x="3700535" y="370"/>
                </a:lnTo>
                <a:lnTo>
                  <a:pt x="3708836" y="512"/>
                </a:lnTo>
                <a:lnTo>
                  <a:pt x="3717130" y="592"/>
                </a:lnTo>
                <a:lnTo>
                  <a:pt x="3725427" y="558"/>
                </a:lnTo>
                <a:lnTo>
                  <a:pt x="3733724" y="534"/>
                </a:lnTo>
                <a:lnTo>
                  <a:pt x="3742023" y="607"/>
                </a:lnTo>
                <a:lnTo>
                  <a:pt x="3750324" y="750"/>
                </a:lnTo>
                <a:lnTo>
                  <a:pt x="3758617" y="887"/>
                </a:lnTo>
                <a:lnTo>
                  <a:pt x="3766914" y="977"/>
                </a:lnTo>
                <a:lnTo>
                  <a:pt x="3775215" y="1043"/>
                </a:lnTo>
                <a:lnTo>
                  <a:pt x="3783509" y="1044"/>
                </a:lnTo>
                <a:lnTo>
                  <a:pt x="3791802" y="936"/>
                </a:lnTo>
                <a:lnTo>
                  <a:pt x="3800094" y="722"/>
                </a:lnTo>
                <a:lnTo>
                  <a:pt x="3808398" y="522"/>
                </a:lnTo>
                <a:lnTo>
                  <a:pt x="3816698" y="411"/>
                </a:lnTo>
                <a:lnTo>
                  <a:pt x="3824978" y="474"/>
                </a:lnTo>
                <a:lnTo>
                  <a:pt x="3833295" y="616"/>
                </a:lnTo>
                <a:lnTo>
                  <a:pt x="3841583" y="831"/>
                </a:lnTo>
                <a:lnTo>
                  <a:pt x="3849881" y="994"/>
                </a:lnTo>
                <a:lnTo>
                  <a:pt x="3858184" y="1036"/>
                </a:lnTo>
                <a:lnTo>
                  <a:pt x="3866483" y="939"/>
                </a:lnTo>
                <a:lnTo>
                  <a:pt x="3874777" y="843"/>
                </a:lnTo>
                <a:lnTo>
                  <a:pt x="3883077" y="859"/>
                </a:lnTo>
                <a:lnTo>
                  <a:pt x="3891375" y="960"/>
                </a:lnTo>
                <a:lnTo>
                  <a:pt x="3899667" y="1073"/>
                </a:lnTo>
                <a:lnTo>
                  <a:pt x="3907965" y="1147"/>
                </a:lnTo>
                <a:lnTo>
                  <a:pt x="3916264" y="1185"/>
                </a:lnTo>
                <a:lnTo>
                  <a:pt x="3924555" y="1144"/>
                </a:lnTo>
                <a:lnTo>
                  <a:pt x="3932862" y="1054"/>
                </a:lnTo>
                <a:lnTo>
                  <a:pt x="3941150" y="878"/>
                </a:lnTo>
                <a:lnTo>
                  <a:pt x="3949449" y="792"/>
                </a:lnTo>
                <a:lnTo>
                  <a:pt x="3957760" y="840"/>
                </a:lnTo>
                <a:lnTo>
                  <a:pt x="3966035" y="932"/>
                </a:lnTo>
                <a:lnTo>
                  <a:pt x="3974352" y="872"/>
                </a:lnTo>
                <a:lnTo>
                  <a:pt x="3982648" y="594"/>
                </a:lnTo>
                <a:lnTo>
                  <a:pt x="3990940" y="232"/>
                </a:lnTo>
                <a:lnTo>
                  <a:pt x="3999239" y="14"/>
                </a:lnTo>
                <a:lnTo>
                  <a:pt x="4007534" y="0"/>
                </a:lnTo>
                <a:lnTo>
                  <a:pt x="4015833" y="181"/>
                </a:lnTo>
                <a:lnTo>
                  <a:pt x="4024132" y="466"/>
                </a:lnTo>
                <a:lnTo>
                  <a:pt x="4032424" y="725"/>
                </a:lnTo>
                <a:lnTo>
                  <a:pt x="4040717" y="859"/>
                </a:lnTo>
                <a:lnTo>
                  <a:pt x="4049018" y="903"/>
                </a:lnTo>
                <a:lnTo>
                  <a:pt x="4057315" y="1009"/>
                </a:lnTo>
                <a:lnTo>
                  <a:pt x="4065600" y="1016"/>
                </a:lnTo>
                <a:lnTo>
                  <a:pt x="4073915" y="1097"/>
                </a:lnTo>
                <a:lnTo>
                  <a:pt x="4082210" y="1068"/>
                </a:lnTo>
                <a:lnTo>
                  <a:pt x="4090509" y="882"/>
                </a:lnTo>
                <a:lnTo>
                  <a:pt x="4098796" y="726"/>
                </a:lnTo>
                <a:lnTo>
                  <a:pt x="4107097" y="553"/>
                </a:lnTo>
                <a:lnTo>
                  <a:pt x="4115395" y="436"/>
                </a:lnTo>
                <a:lnTo>
                  <a:pt x="4123691" y="419"/>
                </a:lnTo>
                <a:lnTo>
                  <a:pt x="4131989" y="516"/>
                </a:lnTo>
                <a:lnTo>
                  <a:pt x="4140272" y="705"/>
                </a:lnTo>
                <a:lnTo>
                  <a:pt x="4148582" y="864"/>
                </a:lnTo>
                <a:lnTo>
                  <a:pt x="4156873" y="893"/>
                </a:lnTo>
                <a:lnTo>
                  <a:pt x="4165176" y="801"/>
                </a:lnTo>
                <a:lnTo>
                  <a:pt x="4173483" y="703"/>
                </a:lnTo>
                <a:lnTo>
                  <a:pt x="4181774" y="708"/>
                </a:lnTo>
                <a:lnTo>
                  <a:pt x="4190068" y="790"/>
                </a:lnTo>
                <a:lnTo>
                  <a:pt x="4198367" y="828"/>
                </a:lnTo>
                <a:lnTo>
                  <a:pt x="4206658" y="772"/>
                </a:lnTo>
                <a:lnTo>
                  <a:pt x="4214962" y="710"/>
                </a:lnTo>
                <a:lnTo>
                  <a:pt x="4223254" y="725"/>
                </a:lnTo>
                <a:lnTo>
                  <a:pt x="4231556" y="827"/>
                </a:lnTo>
                <a:lnTo>
                  <a:pt x="4239853" y="1145"/>
                </a:lnTo>
              </a:path>
            </a:pathLst>
          </a:custGeom>
          <a:noFill/>
          <a:ln w="15240">
            <a:solidFill>
              <a:srgbClr val="4DE0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-164">
            <a:extLst>
              <a:ext uri="{FF2B5EF4-FFF2-40B4-BE49-F238E27FC236}">
                <a16:creationId xmlns:a16="http://schemas.microsoft.com/office/drawing/2014/main" id="{5683F7EA-2538-41AF-9730-5CBDF54EC061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424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弱光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C082E1A-C82C-4EA7-BB9C-00A5CAD002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827" b="40218"/>
          <a:stretch/>
        </p:blipFill>
        <p:spPr>
          <a:xfrm>
            <a:off x="609600" y="3486150"/>
            <a:ext cx="4248150" cy="847725"/>
          </a:xfrm>
          <a:prstGeom prst="rect">
            <a:avLst/>
          </a:prstGeom>
        </p:spPr>
      </p:pic>
      <p:sp>
        <p:nvSpPr>
          <p:cNvPr id="13" name="curve-165">
            <a:extLst>
              <a:ext uri="{FF2B5EF4-FFF2-40B4-BE49-F238E27FC236}">
                <a16:creationId xmlns:a16="http://schemas.microsoft.com/office/drawing/2014/main" id="{BD6B1DAF-EB2E-4FA0-96AB-389AF882D98A}"/>
              </a:ext>
            </a:extLst>
          </p:cNvPr>
          <p:cNvSpPr>
            <a:spLocks noGrp="1"/>
          </p:cNvSpPr>
          <p:nvPr/>
        </p:nvSpPr>
        <p:spPr>
          <a:xfrm>
            <a:off x="609600" y="3908156"/>
            <a:ext cx="4239853" cy="9525"/>
          </a:xfrm>
          <a:custGeom>
            <a:avLst/>
            <a:gdLst/>
            <a:ahLst/>
            <a:cxnLst/>
            <a:rect l="0" t="0" r="0" b="0"/>
            <a:pathLst>
              <a:path w="4239853" h="9525">
                <a:moveTo>
                  <a:pt x="0" y="2542"/>
                </a:moveTo>
                <a:lnTo>
                  <a:pt x="8303" y="1067"/>
                </a:lnTo>
                <a:lnTo>
                  <a:pt x="16557" y="2644"/>
                </a:lnTo>
                <a:lnTo>
                  <a:pt x="24886" y="2572"/>
                </a:lnTo>
                <a:lnTo>
                  <a:pt x="33207" y="2581"/>
                </a:lnTo>
                <a:lnTo>
                  <a:pt x="41453" y="2089"/>
                </a:lnTo>
                <a:lnTo>
                  <a:pt x="49662" y="1382"/>
                </a:lnTo>
                <a:lnTo>
                  <a:pt x="58086" y="1265"/>
                </a:lnTo>
                <a:lnTo>
                  <a:pt x="66359" y="885"/>
                </a:lnTo>
                <a:lnTo>
                  <a:pt x="74661" y="1253"/>
                </a:lnTo>
                <a:lnTo>
                  <a:pt x="83070" y="1602"/>
                </a:lnTo>
                <a:lnTo>
                  <a:pt x="91260" y="1816"/>
                </a:lnTo>
                <a:lnTo>
                  <a:pt x="99574" y="1722"/>
                </a:lnTo>
                <a:lnTo>
                  <a:pt x="107835" y="1434"/>
                </a:lnTo>
                <a:lnTo>
                  <a:pt x="116176" y="1135"/>
                </a:lnTo>
                <a:lnTo>
                  <a:pt x="124452" y="827"/>
                </a:lnTo>
                <a:lnTo>
                  <a:pt x="132744" y="823"/>
                </a:lnTo>
                <a:lnTo>
                  <a:pt x="141071" y="1008"/>
                </a:lnTo>
                <a:lnTo>
                  <a:pt x="149345" y="891"/>
                </a:lnTo>
                <a:lnTo>
                  <a:pt x="157630" y="850"/>
                </a:lnTo>
                <a:lnTo>
                  <a:pt x="165969" y="919"/>
                </a:lnTo>
                <a:lnTo>
                  <a:pt x="174222" y="1509"/>
                </a:lnTo>
                <a:lnTo>
                  <a:pt x="182540" y="2074"/>
                </a:lnTo>
                <a:lnTo>
                  <a:pt x="190851" y="2639"/>
                </a:lnTo>
                <a:lnTo>
                  <a:pt x="199121" y="2858"/>
                </a:lnTo>
                <a:lnTo>
                  <a:pt x="207446" y="2724"/>
                </a:lnTo>
                <a:lnTo>
                  <a:pt x="215727" y="2534"/>
                </a:lnTo>
                <a:lnTo>
                  <a:pt x="223964" y="2552"/>
                </a:lnTo>
                <a:lnTo>
                  <a:pt x="232338" y="2969"/>
                </a:lnTo>
                <a:lnTo>
                  <a:pt x="240623" y="2670"/>
                </a:lnTo>
                <a:lnTo>
                  <a:pt x="248990" y="2895"/>
                </a:lnTo>
                <a:lnTo>
                  <a:pt x="257167" y="2383"/>
                </a:lnTo>
                <a:lnTo>
                  <a:pt x="265529" y="1925"/>
                </a:lnTo>
                <a:lnTo>
                  <a:pt x="273804" y="1688"/>
                </a:lnTo>
                <a:lnTo>
                  <a:pt x="282124" y="1894"/>
                </a:lnTo>
                <a:lnTo>
                  <a:pt x="290415" y="2300"/>
                </a:lnTo>
                <a:lnTo>
                  <a:pt x="298654" y="2743"/>
                </a:lnTo>
                <a:lnTo>
                  <a:pt x="306914" y="3146"/>
                </a:lnTo>
                <a:lnTo>
                  <a:pt x="315273" y="3327"/>
                </a:lnTo>
                <a:lnTo>
                  <a:pt x="323587" y="3177"/>
                </a:lnTo>
                <a:lnTo>
                  <a:pt x="331897" y="2700"/>
                </a:lnTo>
                <a:lnTo>
                  <a:pt x="340155" y="2070"/>
                </a:lnTo>
                <a:lnTo>
                  <a:pt x="348470" y="1579"/>
                </a:lnTo>
                <a:lnTo>
                  <a:pt x="356723" y="1162"/>
                </a:lnTo>
                <a:lnTo>
                  <a:pt x="365140" y="1515"/>
                </a:lnTo>
                <a:lnTo>
                  <a:pt x="373379" y="1343"/>
                </a:lnTo>
                <a:lnTo>
                  <a:pt x="381678" y="1142"/>
                </a:lnTo>
                <a:lnTo>
                  <a:pt x="389972" y="832"/>
                </a:lnTo>
                <a:lnTo>
                  <a:pt x="398266" y="777"/>
                </a:lnTo>
                <a:lnTo>
                  <a:pt x="406565" y="939"/>
                </a:lnTo>
                <a:lnTo>
                  <a:pt x="414860" y="1252"/>
                </a:lnTo>
                <a:lnTo>
                  <a:pt x="423155" y="1347"/>
                </a:lnTo>
                <a:lnTo>
                  <a:pt x="431454" y="1416"/>
                </a:lnTo>
                <a:lnTo>
                  <a:pt x="439748" y="1428"/>
                </a:lnTo>
                <a:lnTo>
                  <a:pt x="448036" y="1504"/>
                </a:lnTo>
                <a:lnTo>
                  <a:pt x="456342" y="1626"/>
                </a:lnTo>
                <a:lnTo>
                  <a:pt x="464595" y="1991"/>
                </a:lnTo>
                <a:lnTo>
                  <a:pt x="472971" y="2196"/>
                </a:lnTo>
                <a:lnTo>
                  <a:pt x="481215" y="2584"/>
                </a:lnTo>
                <a:lnTo>
                  <a:pt x="489531" y="2683"/>
                </a:lnTo>
                <a:lnTo>
                  <a:pt x="497786" y="2377"/>
                </a:lnTo>
                <a:lnTo>
                  <a:pt x="506196" y="1950"/>
                </a:lnTo>
                <a:lnTo>
                  <a:pt x="514393" y="1346"/>
                </a:lnTo>
                <a:lnTo>
                  <a:pt x="522707" y="1026"/>
                </a:lnTo>
                <a:lnTo>
                  <a:pt x="531018" y="907"/>
                </a:lnTo>
                <a:lnTo>
                  <a:pt x="539321" y="977"/>
                </a:lnTo>
                <a:lnTo>
                  <a:pt x="547625" y="1189"/>
                </a:lnTo>
                <a:lnTo>
                  <a:pt x="555905" y="1623"/>
                </a:lnTo>
                <a:lnTo>
                  <a:pt x="564199" y="1963"/>
                </a:lnTo>
                <a:lnTo>
                  <a:pt x="572522" y="1966"/>
                </a:lnTo>
                <a:lnTo>
                  <a:pt x="580829" y="1898"/>
                </a:lnTo>
                <a:lnTo>
                  <a:pt x="589160" y="2060"/>
                </a:lnTo>
                <a:lnTo>
                  <a:pt x="597369" y="2529"/>
                </a:lnTo>
                <a:lnTo>
                  <a:pt x="605741" y="2798"/>
                </a:lnTo>
                <a:lnTo>
                  <a:pt x="614006" y="2465"/>
                </a:lnTo>
                <a:lnTo>
                  <a:pt x="622313" y="2096"/>
                </a:lnTo>
                <a:lnTo>
                  <a:pt x="630550" y="1461"/>
                </a:lnTo>
                <a:lnTo>
                  <a:pt x="638909" y="1513"/>
                </a:lnTo>
                <a:lnTo>
                  <a:pt x="647188" y="1617"/>
                </a:lnTo>
                <a:lnTo>
                  <a:pt x="655459" y="1942"/>
                </a:lnTo>
                <a:lnTo>
                  <a:pt x="663797" y="2163"/>
                </a:lnTo>
                <a:lnTo>
                  <a:pt x="672053" y="2189"/>
                </a:lnTo>
                <a:lnTo>
                  <a:pt x="680360" y="1872"/>
                </a:lnTo>
                <a:lnTo>
                  <a:pt x="688624" y="1287"/>
                </a:lnTo>
                <a:lnTo>
                  <a:pt x="696891" y="1121"/>
                </a:lnTo>
                <a:lnTo>
                  <a:pt x="705214" y="1440"/>
                </a:lnTo>
                <a:lnTo>
                  <a:pt x="713590" y="2087"/>
                </a:lnTo>
                <a:lnTo>
                  <a:pt x="721845" y="2113"/>
                </a:lnTo>
                <a:lnTo>
                  <a:pt x="730139" y="2415"/>
                </a:lnTo>
                <a:lnTo>
                  <a:pt x="738475" y="2030"/>
                </a:lnTo>
                <a:lnTo>
                  <a:pt x="746782" y="1668"/>
                </a:lnTo>
                <a:lnTo>
                  <a:pt x="755059" y="1439"/>
                </a:lnTo>
                <a:lnTo>
                  <a:pt x="763271" y="1559"/>
                </a:lnTo>
                <a:lnTo>
                  <a:pt x="771623" y="1796"/>
                </a:lnTo>
                <a:lnTo>
                  <a:pt x="779914" y="2153"/>
                </a:lnTo>
                <a:lnTo>
                  <a:pt x="788213" y="2313"/>
                </a:lnTo>
                <a:lnTo>
                  <a:pt x="796534" y="2413"/>
                </a:lnTo>
                <a:lnTo>
                  <a:pt x="804796" y="2281"/>
                </a:lnTo>
                <a:lnTo>
                  <a:pt x="813048" y="1897"/>
                </a:lnTo>
                <a:lnTo>
                  <a:pt x="821384" y="1401"/>
                </a:lnTo>
                <a:lnTo>
                  <a:pt x="829658" y="1613"/>
                </a:lnTo>
                <a:lnTo>
                  <a:pt x="837956" y="1691"/>
                </a:lnTo>
                <a:lnTo>
                  <a:pt x="846322" y="2157"/>
                </a:lnTo>
                <a:lnTo>
                  <a:pt x="854608" y="2335"/>
                </a:lnTo>
                <a:lnTo>
                  <a:pt x="862911" y="2264"/>
                </a:lnTo>
                <a:lnTo>
                  <a:pt x="871200" y="2203"/>
                </a:lnTo>
                <a:lnTo>
                  <a:pt x="879525" y="2245"/>
                </a:lnTo>
                <a:lnTo>
                  <a:pt x="887789" y="2128"/>
                </a:lnTo>
                <a:lnTo>
                  <a:pt x="896108" y="2119"/>
                </a:lnTo>
                <a:lnTo>
                  <a:pt x="904314" y="1805"/>
                </a:lnTo>
                <a:lnTo>
                  <a:pt x="912728" y="1434"/>
                </a:lnTo>
                <a:lnTo>
                  <a:pt x="920956" y="988"/>
                </a:lnTo>
                <a:lnTo>
                  <a:pt x="929281" y="905"/>
                </a:lnTo>
                <a:lnTo>
                  <a:pt x="937571" y="1228"/>
                </a:lnTo>
                <a:lnTo>
                  <a:pt x="945871" y="1773"/>
                </a:lnTo>
                <a:lnTo>
                  <a:pt x="954145" y="2199"/>
                </a:lnTo>
                <a:lnTo>
                  <a:pt x="962468" y="1896"/>
                </a:lnTo>
                <a:lnTo>
                  <a:pt x="970850" y="1927"/>
                </a:lnTo>
                <a:lnTo>
                  <a:pt x="979035" y="1735"/>
                </a:lnTo>
                <a:lnTo>
                  <a:pt x="987361" y="1705"/>
                </a:lnTo>
                <a:lnTo>
                  <a:pt x="995682" y="1869"/>
                </a:lnTo>
                <a:lnTo>
                  <a:pt x="1003941" y="1951"/>
                </a:lnTo>
                <a:lnTo>
                  <a:pt x="1012269" y="1922"/>
                </a:lnTo>
                <a:lnTo>
                  <a:pt x="1020573" y="1997"/>
                </a:lnTo>
                <a:lnTo>
                  <a:pt x="1028834" y="2269"/>
                </a:lnTo>
                <a:lnTo>
                  <a:pt x="1037041" y="2909"/>
                </a:lnTo>
                <a:lnTo>
                  <a:pt x="1045487" y="2924"/>
                </a:lnTo>
                <a:lnTo>
                  <a:pt x="1053654" y="2930"/>
                </a:lnTo>
                <a:lnTo>
                  <a:pt x="1062054" y="2240"/>
                </a:lnTo>
                <a:lnTo>
                  <a:pt x="1070319" y="1850"/>
                </a:lnTo>
                <a:lnTo>
                  <a:pt x="1078618" y="1441"/>
                </a:lnTo>
                <a:lnTo>
                  <a:pt x="1086959" y="1724"/>
                </a:lnTo>
                <a:lnTo>
                  <a:pt x="1095195" y="2051"/>
                </a:lnTo>
                <a:lnTo>
                  <a:pt x="1103508" y="2401"/>
                </a:lnTo>
                <a:lnTo>
                  <a:pt x="1111825" y="2749"/>
                </a:lnTo>
                <a:lnTo>
                  <a:pt x="1120118" y="3073"/>
                </a:lnTo>
                <a:lnTo>
                  <a:pt x="1128415" y="2943"/>
                </a:lnTo>
                <a:lnTo>
                  <a:pt x="1136711" y="2480"/>
                </a:lnTo>
                <a:lnTo>
                  <a:pt x="1145009" y="1801"/>
                </a:lnTo>
                <a:lnTo>
                  <a:pt x="1153301" y="1284"/>
                </a:lnTo>
                <a:lnTo>
                  <a:pt x="1161575" y="1128"/>
                </a:lnTo>
                <a:lnTo>
                  <a:pt x="1169907" y="1248"/>
                </a:lnTo>
                <a:lnTo>
                  <a:pt x="1178157" y="1603"/>
                </a:lnTo>
                <a:lnTo>
                  <a:pt x="1186476" y="1732"/>
                </a:lnTo>
                <a:lnTo>
                  <a:pt x="1194688" y="1639"/>
                </a:lnTo>
                <a:lnTo>
                  <a:pt x="1203173" y="1548"/>
                </a:lnTo>
                <a:lnTo>
                  <a:pt x="1211395" y="1529"/>
                </a:lnTo>
                <a:lnTo>
                  <a:pt x="1219692" y="1954"/>
                </a:lnTo>
                <a:lnTo>
                  <a:pt x="1227965" y="2497"/>
                </a:lnTo>
                <a:lnTo>
                  <a:pt x="1236274" y="2577"/>
                </a:lnTo>
                <a:lnTo>
                  <a:pt x="1244556" y="2283"/>
                </a:lnTo>
                <a:lnTo>
                  <a:pt x="1252881" y="1723"/>
                </a:lnTo>
                <a:lnTo>
                  <a:pt x="1261141" y="1205"/>
                </a:lnTo>
                <a:lnTo>
                  <a:pt x="1269457" y="937"/>
                </a:lnTo>
                <a:lnTo>
                  <a:pt x="1277689" y="1145"/>
                </a:lnTo>
                <a:lnTo>
                  <a:pt x="1286079" y="1357"/>
                </a:lnTo>
                <a:lnTo>
                  <a:pt x="1294328" y="1823"/>
                </a:lnTo>
                <a:lnTo>
                  <a:pt x="1302646" y="1567"/>
                </a:lnTo>
                <a:lnTo>
                  <a:pt x="1310983" y="1505"/>
                </a:lnTo>
                <a:lnTo>
                  <a:pt x="1319309" y="1121"/>
                </a:lnTo>
                <a:lnTo>
                  <a:pt x="1327567" y="1031"/>
                </a:lnTo>
                <a:lnTo>
                  <a:pt x="1335823" y="1406"/>
                </a:lnTo>
                <a:lnTo>
                  <a:pt x="1344153" y="1999"/>
                </a:lnTo>
                <a:lnTo>
                  <a:pt x="1352450" y="2219"/>
                </a:lnTo>
                <a:lnTo>
                  <a:pt x="1360747" y="2516"/>
                </a:lnTo>
                <a:lnTo>
                  <a:pt x="1368940" y="2199"/>
                </a:lnTo>
                <a:lnTo>
                  <a:pt x="1377407" y="1941"/>
                </a:lnTo>
                <a:lnTo>
                  <a:pt x="1385610" y="1669"/>
                </a:lnTo>
                <a:lnTo>
                  <a:pt x="1393901" y="1792"/>
                </a:lnTo>
                <a:lnTo>
                  <a:pt x="1402212" y="2439"/>
                </a:lnTo>
                <a:lnTo>
                  <a:pt x="1410470" y="1773"/>
                </a:lnTo>
                <a:lnTo>
                  <a:pt x="1418880" y="1684"/>
                </a:lnTo>
                <a:lnTo>
                  <a:pt x="1427094" y="1340"/>
                </a:lnTo>
                <a:lnTo>
                  <a:pt x="1435417" y="1304"/>
                </a:lnTo>
                <a:lnTo>
                  <a:pt x="1443740" y="1499"/>
                </a:lnTo>
                <a:lnTo>
                  <a:pt x="1452012" y="1843"/>
                </a:lnTo>
                <a:lnTo>
                  <a:pt x="1460324" y="2204"/>
                </a:lnTo>
                <a:lnTo>
                  <a:pt x="1468605" y="2447"/>
                </a:lnTo>
                <a:lnTo>
                  <a:pt x="1476907" y="2487"/>
                </a:lnTo>
                <a:lnTo>
                  <a:pt x="1485189" y="2482"/>
                </a:lnTo>
                <a:lnTo>
                  <a:pt x="1493488" y="2387"/>
                </a:lnTo>
                <a:lnTo>
                  <a:pt x="1501774" y="2151"/>
                </a:lnTo>
                <a:lnTo>
                  <a:pt x="1510093" y="1970"/>
                </a:lnTo>
                <a:lnTo>
                  <a:pt x="1518386" y="1968"/>
                </a:lnTo>
                <a:lnTo>
                  <a:pt x="1526680" y="2029"/>
                </a:lnTo>
                <a:lnTo>
                  <a:pt x="1534974" y="2001"/>
                </a:lnTo>
                <a:lnTo>
                  <a:pt x="1543265" y="1908"/>
                </a:lnTo>
                <a:lnTo>
                  <a:pt x="1551565" y="1576"/>
                </a:lnTo>
                <a:lnTo>
                  <a:pt x="1559861" y="1393"/>
                </a:lnTo>
                <a:lnTo>
                  <a:pt x="1568129" y="1519"/>
                </a:lnTo>
                <a:lnTo>
                  <a:pt x="1576483" y="1318"/>
                </a:lnTo>
                <a:lnTo>
                  <a:pt x="1584785" y="1431"/>
                </a:lnTo>
                <a:lnTo>
                  <a:pt x="1593064" y="1530"/>
                </a:lnTo>
                <a:lnTo>
                  <a:pt x="1601342" y="1484"/>
                </a:lnTo>
                <a:lnTo>
                  <a:pt x="1609688" y="1504"/>
                </a:lnTo>
                <a:lnTo>
                  <a:pt x="1617928" y="1608"/>
                </a:lnTo>
                <a:lnTo>
                  <a:pt x="1626250" y="2062"/>
                </a:lnTo>
                <a:lnTo>
                  <a:pt x="1634515" y="2806"/>
                </a:lnTo>
                <a:lnTo>
                  <a:pt x="1642796" y="3391"/>
                </a:lnTo>
                <a:lnTo>
                  <a:pt x="1651114" y="2873"/>
                </a:lnTo>
                <a:lnTo>
                  <a:pt x="1659431" y="2589"/>
                </a:lnTo>
                <a:lnTo>
                  <a:pt x="1667702" y="1889"/>
                </a:lnTo>
                <a:lnTo>
                  <a:pt x="1676005" y="1383"/>
                </a:lnTo>
                <a:lnTo>
                  <a:pt x="1684317" y="1224"/>
                </a:lnTo>
                <a:lnTo>
                  <a:pt x="1692622" y="1311"/>
                </a:lnTo>
                <a:lnTo>
                  <a:pt x="1700915" y="1462"/>
                </a:lnTo>
                <a:lnTo>
                  <a:pt x="1709210" y="1558"/>
                </a:lnTo>
                <a:lnTo>
                  <a:pt x="1717507" y="1633"/>
                </a:lnTo>
                <a:lnTo>
                  <a:pt x="1725810" y="1729"/>
                </a:lnTo>
                <a:lnTo>
                  <a:pt x="1734108" y="1843"/>
                </a:lnTo>
                <a:lnTo>
                  <a:pt x="1742385" y="1819"/>
                </a:lnTo>
                <a:lnTo>
                  <a:pt x="1750718" y="1585"/>
                </a:lnTo>
                <a:lnTo>
                  <a:pt x="1758989" y="1277"/>
                </a:lnTo>
                <a:lnTo>
                  <a:pt x="1767293" y="1179"/>
                </a:lnTo>
                <a:lnTo>
                  <a:pt x="1775590" y="1334"/>
                </a:lnTo>
                <a:lnTo>
                  <a:pt x="1783873" y="1051"/>
                </a:lnTo>
                <a:lnTo>
                  <a:pt x="1792193" y="945"/>
                </a:lnTo>
                <a:lnTo>
                  <a:pt x="1800528" y="1151"/>
                </a:lnTo>
                <a:lnTo>
                  <a:pt x="1808803" y="1596"/>
                </a:lnTo>
                <a:lnTo>
                  <a:pt x="1817093" y="1823"/>
                </a:lnTo>
                <a:lnTo>
                  <a:pt x="1825391" y="2091"/>
                </a:lnTo>
                <a:lnTo>
                  <a:pt x="1833661" y="2407"/>
                </a:lnTo>
                <a:lnTo>
                  <a:pt x="1842084" y="2424"/>
                </a:lnTo>
                <a:lnTo>
                  <a:pt x="1850256" y="2599"/>
                </a:lnTo>
                <a:lnTo>
                  <a:pt x="1858548" y="2097"/>
                </a:lnTo>
                <a:lnTo>
                  <a:pt x="1866860" y="1667"/>
                </a:lnTo>
                <a:lnTo>
                  <a:pt x="1875155" y="1425"/>
                </a:lnTo>
                <a:lnTo>
                  <a:pt x="1883439" y="1374"/>
                </a:lnTo>
                <a:lnTo>
                  <a:pt x="1891746" y="1303"/>
                </a:lnTo>
                <a:lnTo>
                  <a:pt x="1900046" y="1426"/>
                </a:lnTo>
                <a:lnTo>
                  <a:pt x="1908334" y="1361"/>
                </a:lnTo>
                <a:lnTo>
                  <a:pt x="1916663" y="1467"/>
                </a:lnTo>
                <a:lnTo>
                  <a:pt x="1925011" y="1454"/>
                </a:lnTo>
                <a:lnTo>
                  <a:pt x="1933235" y="1046"/>
                </a:lnTo>
                <a:lnTo>
                  <a:pt x="1941533" y="1009"/>
                </a:lnTo>
                <a:lnTo>
                  <a:pt x="1949821" y="1080"/>
                </a:lnTo>
                <a:lnTo>
                  <a:pt x="1958153" y="1225"/>
                </a:lnTo>
                <a:lnTo>
                  <a:pt x="1966399" y="1302"/>
                </a:lnTo>
                <a:lnTo>
                  <a:pt x="1974727" y="1195"/>
                </a:lnTo>
                <a:lnTo>
                  <a:pt x="1983026" y="1102"/>
                </a:lnTo>
                <a:lnTo>
                  <a:pt x="1991323" y="1140"/>
                </a:lnTo>
                <a:lnTo>
                  <a:pt x="1999617" y="1333"/>
                </a:lnTo>
                <a:lnTo>
                  <a:pt x="2007891" y="1426"/>
                </a:lnTo>
                <a:lnTo>
                  <a:pt x="2016223" y="1455"/>
                </a:lnTo>
                <a:lnTo>
                  <a:pt x="2024524" y="1606"/>
                </a:lnTo>
                <a:lnTo>
                  <a:pt x="2032826" y="1889"/>
                </a:lnTo>
                <a:lnTo>
                  <a:pt x="2041103" y="1986"/>
                </a:lnTo>
                <a:lnTo>
                  <a:pt x="2049389" y="1777"/>
                </a:lnTo>
                <a:lnTo>
                  <a:pt x="2057698" y="1506"/>
                </a:lnTo>
                <a:lnTo>
                  <a:pt x="2065999" y="1360"/>
                </a:lnTo>
                <a:lnTo>
                  <a:pt x="2074302" y="1425"/>
                </a:lnTo>
                <a:lnTo>
                  <a:pt x="2082610" y="1640"/>
                </a:lnTo>
                <a:lnTo>
                  <a:pt x="2090869" y="2108"/>
                </a:lnTo>
                <a:lnTo>
                  <a:pt x="2099195" y="2670"/>
                </a:lnTo>
                <a:lnTo>
                  <a:pt x="2107497" y="2599"/>
                </a:lnTo>
                <a:lnTo>
                  <a:pt x="2115775" y="2515"/>
                </a:lnTo>
                <a:lnTo>
                  <a:pt x="2124073" y="1932"/>
                </a:lnTo>
                <a:lnTo>
                  <a:pt x="2132364" y="1480"/>
                </a:lnTo>
                <a:lnTo>
                  <a:pt x="2140668" y="1139"/>
                </a:lnTo>
                <a:lnTo>
                  <a:pt x="2148968" y="1045"/>
                </a:lnTo>
                <a:lnTo>
                  <a:pt x="2157271" y="1074"/>
                </a:lnTo>
                <a:lnTo>
                  <a:pt x="2165570" y="1565"/>
                </a:lnTo>
                <a:lnTo>
                  <a:pt x="2173874" y="1931"/>
                </a:lnTo>
                <a:lnTo>
                  <a:pt x="2182170" y="2334"/>
                </a:lnTo>
                <a:lnTo>
                  <a:pt x="2190480" y="2787"/>
                </a:lnTo>
                <a:lnTo>
                  <a:pt x="2198755" y="2966"/>
                </a:lnTo>
                <a:lnTo>
                  <a:pt x="2207077" y="2802"/>
                </a:lnTo>
                <a:lnTo>
                  <a:pt x="2215286" y="2133"/>
                </a:lnTo>
                <a:lnTo>
                  <a:pt x="2223623" y="1390"/>
                </a:lnTo>
                <a:lnTo>
                  <a:pt x="2231921" y="987"/>
                </a:lnTo>
                <a:lnTo>
                  <a:pt x="2240261" y="950"/>
                </a:lnTo>
                <a:lnTo>
                  <a:pt x="2248522" y="1349"/>
                </a:lnTo>
                <a:lnTo>
                  <a:pt x="2256798" y="1641"/>
                </a:lnTo>
                <a:lnTo>
                  <a:pt x="2265101" y="1698"/>
                </a:lnTo>
                <a:lnTo>
                  <a:pt x="2273388" y="1583"/>
                </a:lnTo>
                <a:lnTo>
                  <a:pt x="2281714" y="1388"/>
                </a:lnTo>
                <a:lnTo>
                  <a:pt x="2290014" y="1436"/>
                </a:lnTo>
                <a:lnTo>
                  <a:pt x="2298295" y="1789"/>
                </a:lnTo>
                <a:lnTo>
                  <a:pt x="2306642" y="2194"/>
                </a:lnTo>
                <a:lnTo>
                  <a:pt x="2314905" y="2406"/>
                </a:lnTo>
                <a:lnTo>
                  <a:pt x="2323222" y="2220"/>
                </a:lnTo>
                <a:lnTo>
                  <a:pt x="2331520" y="2378"/>
                </a:lnTo>
                <a:lnTo>
                  <a:pt x="2339732" y="1847"/>
                </a:lnTo>
                <a:lnTo>
                  <a:pt x="2348057" y="1158"/>
                </a:lnTo>
                <a:lnTo>
                  <a:pt x="2356396" y="783"/>
                </a:lnTo>
                <a:lnTo>
                  <a:pt x="2364700" y="990"/>
                </a:lnTo>
                <a:lnTo>
                  <a:pt x="2372936" y="1307"/>
                </a:lnTo>
                <a:lnTo>
                  <a:pt x="2381300" y="1768"/>
                </a:lnTo>
                <a:lnTo>
                  <a:pt x="2389581" y="2103"/>
                </a:lnTo>
                <a:lnTo>
                  <a:pt x="2397868" y="2290"/>
                </a:lnTo>
                <a:lnTo>
                  <a:pt x="2406177" y="2443"/>
                </a:lnTo>
                <a:lnTo>
                  <a:pt x="2414471" y="2547"/>
                </a:lnTo>
                <a:lnTo>
                  <a:pt x="2422741" y="2332"/>
                </a:lnTo>
                <a:lnTo>
                  <a:pt x="2431058" y="1955"/>
                </a:lnTo>
                <a:lnTo>
                  <a:pt x="2439359" y="1650"/>
                </a:lnTo>
                <a:lnTo>
                  <a:pt x="2447642" y="1791"/>
                </a:lnTo>
                <a:lnTo>
                  <a:pt x="2455983" y="2055"/>
                </a:lnTo>
                <a:lnTo>
                  <a:pt x="2464283" y="2232"/>
                </a:lnTo>
                <a:lnTo>
                  <a:pt x="2472544" y="2414"/>
                </a:lnTo>
                <a:lnTo>
                  <a:pt x="2480849" y="2482"/>
                </a:lnTo>
                <a:lnTo>
                  <a:pt x="2489127" y="2356"/>
                </a:lnTo>
                <a:lnTo>
                  <a:pt x="2497452" y="2054"/>
                </a:lnTo>
                <a:lnTo>
                  <a:pt x="2505749" y="1482"/>
                </a:lnTo>
                <a:lnTo>
                  <a:pt x="2514039" y="1511"/>
                </a:lnTo>
                <a:lnTo>
                  <a:pt x="2522337" y="1486"/>
                </a:lnTo>
                <a:lnTo>
                  <a:pt x="2530639" y="1425"/>
                </a:lnTo>
                <a:lnTo>
                  <a:pt x="2538891" y="1631"/>
                </a:lnTo>
                <a:lnTo>
                  <a:pt x="2547239" y="1934"/>
                </a:lnTo>
                <a:lnTo>
                  <a:pt x="2555568" y="2213"/>
                </a:lnTo>
                <a:lnTo>
                  <a:pt x="2563837" y="2241"/>
                </a:lnTo>
                <a:lnTo>
                  <a:pt x="2572144" y="2053"/>
                </a:lnTo>
                <a:lnTo>
                  <a:pt x="2580426" y="1974"/>
                </a:lnTo>
                <a:lnTo>
                  <a:pt x="2588713" y="2198"/>
                </a:lnTo>
                <a:lnTo>
                  <a:pt x="2597013" y="2614"/>
                </a:lnTo>
                <a:lnTo>
                  <a:pt x="2605308" y="2944"/>
                </a:lnTo>
                <a:lnTo>
                  <a:pt x="2613624" y="3043"/>
                </a:lnTo>
                <a:lnTo>
                  <a:pt x="2621898" y="2935"/>
                </a:lnTo>
                <a:lnTo>
                  <a:pt x="2630211" y="2850"/>
                </a:lnTo>
                <a:lnTo>
                  <a:pt x="2638488" y="2696"/>
                </a:lnTo>
                <a:lnTo>
                  <a:pt x="2646802" y="2475"/>
                </a:lnTo>
                <a:lnTo>
                  <a:pt x="2655090" y="2207"/>
                </a:lnTo>
                <a:lnTo>
                  <a:pt x="2663380" y="2176"/>
                </a:lnTo>
                <a:lnTo>
                  <a:pt x="2671657" y="2356"/>
                </a:lnTo>
                <a:lnTo>
                  <a:pt x="2679966" y="2560"/>
                </a:lnTo>
                <a:lnTo>
                  <a:pt x="2688279" y="2701"/>
                </a:lnTo>
                <a:lnTo>
                  <a:pt x="2696579" y="2628"/>
                </a:lnTo>
                <a:lnTo>
                  <a:pt x="2704875" y="2536"/>
                </a:lnTo>
                <a:lnTo>
                  <a:pt x="2713171" y="2274"/>
                </a:lnTo>
                <a:lnTo>
                  <a:pt x="2721475" y="1942"/>
                </a:lnTo>
                <a:lnTo>
                  <a:pt x="2729772" y="1641"/>
                </a:lnTo>
                <a:lnTo>
                  <a:pt x="2738065" y="1441"/>
                </a:lnTo>
                <a:lnTo>
                  <a:pt x="2746344" y="1258"/>
                </a:lnTo>
                <a:lnTo>
                  <a:pt x="2754672" y="1321"/>
                </a:lnTo>
                <a:lnTo>
                  <a:pt x="2762946" y="1461"/>
                </a:lnTo>
                <a:lnTo>
                  <a:pt x="2771278" y="1495"/>
                </a:lnTo>
                <a:lnTo>
                  <a:pt x="2779555" y="1659"/>
                </a:lnTo>
                <a:lnTo>
                  <a:pt x="2787857" y="1835"/>
                </a:lnTo>
                <a:lnTo>
                  <a:pt x="2796146" y="2212"/>
                </a:lnTo>
                <a:lnTo>
                  <a:pt x="2804447" y="2252"/>
                </a:lnTo>
                <a:lnTo>
                  <a:pt x="2812745" y="2469"/>
                </a:lnTo>
                <a:lnTo>
                  <a:pt x="2821006" y="2249"/>
                </a:lnTo>
                <a:lnTo>
                  <a:pt x="2829250" y="1867"/>
                </a:lnTo>
                <a:lnTo>
                  <a:pt x="2837608" y="1287"/>
                </a:lnTo>
                <a:lnTo>
                  <a:pt x="2845908" y="1150"/>
                </a:lnTo>
                <a:lnTo>
                  <a:pt x="2854288" y="1270"/>
                </a:lnTo>
                <a:lnTo>
                  <a:pt x="2862637" y="1515"/>
                </a:lnTo>
                <a:lnTo>
                  <a:pt x="2870795" y="1814"/>
                </a:lnTo>
                <a:lnTo>
                  <a:pt x="2879126" y="1793"/>
                </a:lnTo>
                <a:lnTo>
                  <a:pt x="2887416" y="1820"/>
                </a:lnTo>
                <a:lnTo>
                  <a:pt x="2895710" y="1814"/>
                </a:lnTo>
                <a:lnTo>
                  <a:pt x="2904011" y="1900"/>
                </a:lnTo>
                <a:lnTo>
                  <a:pt x="2912273" y="1770"/>
                </a:lnTo>
                <a:lnTo>
                  <a:pt x="2920662" y="1656"/>
                </a:lnTo>
                <a:lnTo>
                  <a:pt x="2928902" y="1584"/>
                </a:lnTo>
                <a:lnTo>
                  <a:pt x="2937201" y="1747"/>
                </a:lnTo>
                <a:lnTo>
                  <a:pt x="2945500" y="1770"/>
                </a:lnTo>
                <a:lnTo>
                  <a:pt x="2953790" y="1647"/>
                </a:lnTo>
                <a:lnTo>
                  <a:pt x="2962056" y="1333"/>
                </a:lnTo>
                <a:lnTo>
                  <a:pt x="2970378" y="842"/>
                </a:lnTo>
                <a:lnTo>
                  <a:pt x="2978638" y="694"/>
                </a:lnTo>
                <a:lnTo>
                  <a:pt x="2986960" y="929"/>
                </a:lnTo>
                <a:lnTo>
                  <a:pt x="2995276" y="1182"/>
                </a:lnTo>
                <a:lnTo>
                  <a:pt x="3003563" y="1226"/>
                </a:lnTo>
                <a:lnTo>
                  <a:pt x="3011826" y="1060"/>
                </a:lnTo>
                <a:lnTo>
                  <a:pt x="3020194" y="1270"/>
                </a:lnTo>
                <a:lnTo>
                  <a:pt x="3028451" y="1310"/>
                </a:lnTo>
                <a:lnTo>
                  <a:pt x="3036856" y="1494"/>
                </a:lnTo>
                <a:lnTo>
                  <a:pt x="3045076" y="1575"/>
                </a:lnTo>
                <a:lnTo>
                  <a:pt x="3053367" y="1237"/>
                </a:lnTo>
                <a:lnTo>
                  <a:pt x="3061636" y="847"/>
                </a:lnTo>
                <a:lnTo>
                  <a:pt x="3069941" y="755"/>
                </a:lnTo>
                <a:lnTo>
                  <a:pt x="3078222" y="893"/>
                </a:lnTo>
                <a:lnTo>
                  <a:pt x="3086556" y="1092"/>
                </a:lnTo>
                <a:lnTo>
                  <a:pt x="3094813" y="993"/>
                </a:lnTo>
                <a:lnTo>
                  <a:pt x="3103137" y="741"/>
                </a:lnTo>
                <a:lnTo>
                  <a:pt x="3111441" y="641"/>
                </a:lnTo>
                <a:lnTo>
                  <a:pt x="3119715" y="877"/>
                </a:lnTo>
                <a:lnTo>
                  <a:pt x="3127975" y="1357"/>
                </a:lnTo>
                <a:lnTo>
                  <a:pt x="3136308" y="1755"/>
                </a:lnTo>
                <a:lnTo>
                  <a:pt x="3144699" y="2014"/>
                </a:lnTo>
                <a:lnTo>
                  <a:pt x="3152836" y="1964"/>
                </a:lnTo>
                <a:lnTo>
                  <a:pt x="3161237" y="1877"/>
                </a:lnTo>
                <a:lnTo>
                  <a:pt x="3169499" y="1718"/>
                </a:lnTo>
                <a:lnTo>
                  <a:pt x="3177793" y="1777"/>
                </a:lnTo>
                <a:lnTo>
                  <a:pt x="3186160" y="2061"/>
                </a:lnTo>
                <a:lnTo>
                  <a:pt x="3194407" y="2438"/>
                </a:lnTo>
                <a:lnTo>
                  <a:pt x="3202665" y="2261"/>
                </a:lnTo>
                <a:lnTo>
                  <a:pt x="3210944" y="1687"/>
                </a:lnTo>
                <a:lnTo>
                  <a:pt x="3219276" y="1586"/>
                </a:lnTo>
                <a:lnTo>
                  <a:pt x="3227596" y="1363"/>
                </a:lnTo>
                <a:lnTo>
                  <a:pt x="3235870" y="1440"/>
                </a:lnTo>
                <a:lnTo>
                  <a:pt x="3244175" y="1672"/>
                </a:lnTo>
                <a:lnTo>
                  <a:pt x="3252476" y="2022"/>
                </a:lnTo>
                <a:lnTo>
                  <a:pt x="3260785" y="2186"/>
                </a:lnTo>
                <a:lnTo>
                  <a:pt x="3269068" y="2021"/>
                </a:lnTo>
                <a:lnTo>
                  <a:pt x="3277308" y="1720"/>
                </a:lnTo>
                <a:lnTo>
                  <a:pt x="3285754" y="1335"/>
                </a:lnTo>
                <a:lnTo>
                  <a:pt x="3293990" y="1076"/>
                </a:lnTo>
                <a:lnTo>
                  <a:pt x="3302284" y="1300"/>
                </a:lnTo>
                <a:lnTo>
                  <a:pt x="3310577" y="1269"/>
                </a:lnTo>
                <a:lnTo>
                  <a:pt x="3318862" y="1527"/>
                </a:lnTo>
                <a:lnTo>
                  <a:pt x="3327220" y="1831"/>
                </a:lnTo>
                <a:lnTo>
                  <a:pt x="3335472" y="1995"/>
                </a:lnTo>
                <a:lnTo>
                  <a:pt x="3343761" y="1758"/>
                </a:lnTo>
                <a:lnTo>
                  <a:pt x="3352082" y="1704"/>
                </a:lnTo>
                <a:lnTo>
                  <a:pt x="3360364" y="1635"/>
                </a:lnTo>
                <a:lnTo>
                  <a:pt x="3368645" y="1687"/>
                </a:lnTo>
                <a:lnTo>
                  <a:pt x="3376935" y="1757"/>
                </a:lnTo>
                <a:lnTo>
                  <a:pt x="3385213" y="1739"/>
                </a:lnTo>
                <a:lnTo>
                  <a:pt x="3393549" y="2040"/>
                </a:lnTo>
                <a:lnTo>
                  <a:pt x="3401882" y="2529"/>
                </a:lnTo>
                <a:lnTo>
                  <a:pt x="3410127" y="2999"/>
                </a:lnTo>
                <a:lnTo>
                  <a:pt x="3418427" y="3121"/>
                </a:lnTo>
                <a:lnTo>
                  <a:pt x="3426730" y="2774"/>
                </a:lnTo>
                <a:lnTo>
                  <a:pt x="3435034" y="2654"/>
                </a:lnTo>
                <a:lnTo>
                  <a:pt x="3443327" y="2358"/>
                </a:lnTo>
                <a:lnTo>
                  <a:pt x="3451603" y="1903"/>
                </a:lnTo>
                <a:lnTo>
                  <a:pt x="3459927" y="1584"/>
                </a:lnTo>
                <a:lnTo>
                  <a:pt x="3468215" y="1400"/>
                </a:lnTo>
                <a:lnTo>
                  <a:pt x="3476531" y="1483"/>
                </a:lnTo>
                <a:lnTo>
                  <a:pt x="3484798" y="1696"/>
                </a:lnTo>
                <a:lnTo>
                  <a:pt x="3493113" y="1752"/>
                </a:lnTo>
                <a:lnTo>
                  <a:pt x="3501413" y="1765"/>
                </a:lnTo>
                <a:lnTo>
                  <a:pt x="3509711" y="1664"/>
                </a:lnTo>
                <a:lnTo>
                  <a:pt x="3517998" y="1728"/>
                </a:lnTo>
                <a:lnTo>
                  <a:pt x="3526310" y="1340"/>
                </a:lnTo>
                <a:lnTo>
                  <a:pt x="3534593" y="1253"/>
                </a:lnTo>
                <a:lnTo>
                  <a:pt x="3542871" y="1500"/>
                </a:lnTo>
                <a:lnTo>
                  <a:pt x="3551174" y="1936"/>
                </a:lnTo>
                <a:lnTo>
                  <a:pt x="3559433" y="2216"/>
                </a:lnTo>
                <a:lnTo>
                  <a:pt x="3567825" y="2527"/>
                </a:lnTo>
                <a:lnTo>
                  <a:pt x="3576088" y="2826"/>
                </a:lnTo>
                <a:lnTo>
                  <a:pt x="3584402" y="2931"/>
                </a:lnTo>
                <a:lnTo>
                  <a:pt x="3592660" y="2973"/>
                </a:lnTo>
                <a:lnTo>
                  <a:pt x="3600960" y="2676"/>
                </a:lnTo>
                <a:lnTo>
                  <a:pt x="3609246" y="2454"/>
                </a:lnTo>
                <a:lnTo>
                  <a:pt x="3617603" y="2185"/>
                </a:lnTo>
                <a:lnTo>
                  <a:pt x="3625874" y="2122"/>
                </a:lnTo>
                <a:lnTo>
                  <a:pt x="3634156" y="1815"/>
                </a:lnTo>
                <a:lnTo>
                  <a:pt x="3642437" y="1906"/>
                </a:lnTo>
                <a:lnTo>
                  <a:pt x="3650754" y="1980"/>
                </a:lnTo>
                <a:lnTo>
                  <a:pt x="3659047" y="1809"/>
                </a:lnTo>
                <a:lnTo>
                  <a:pt x="3667421" y="1389"/>
                </a:lnTo>
                <a:lnTo>
                  <a:pt x="3675614" y="841"/>
                </a:lnTo>
                <a:lnTo>
                  <a:pt x="3683964" y="666"/>
                </a:lnTo>
                <a:lnTo>
                  <a:pt x="3692274" y="539"/>
                </a:lnTo>
                <a:lnTo>
                  <a:pt x="3700524" y="992"/>
                </a:lnTo>
                <a:lnTo>
                  <a:pt x="3708830" y="1200"/>
                </a:lnTo>
                <a:lnTo>
                  <a:pt x="3717121" y="1415"/>
                </a:lnTo>
                <a:lnTo>
                  <a:pt x="3725423" y="1329"/>
                </a:lnTo>
                <a:lnTo>
                  <a:pt x="3733717" y="1284"/>
                </a:lnTo>
                <a:lnTo>
                  <a:pt x="3742020" y="1431"/>
                </a:lnTo>
                <a:lnTo>
                  <a:pt x="3750340" y="1738"/>
                </a:lnTo>
                <a:lnTo>
                  <a:pt x="3758612" y="2093"/>
                </a:lnTo>
                <a:lnTo>
                  <a:pt x="3766905" y="2293"/>
                </a:lnTo>
                <a:lnTo>
                  <a:pt x="3775231" y="2465"/>
                </a:lnTo>
                <a:lnTo>
                  <a:pt x="3783506" y="2424"/>
                </a:lnTo>
                <a:lnTo>
                  <a:pt x="3791781" y="2195"/>
                </a:lnTo>
                <a:lnTo>
                  <a:pt x="3800042" y="1674"/>
                </a:lnTo>
                <a:lnTo>
                  <a:pt x="3808405" y="1451"/>
                </a:lnTo>
                <a:lnTo>
                  <a:pt x="3816697" y="910"/>
                </a:lnTo>
                <a:lnTo>
                  <a:pt x="3824908" y="1104"/>
                </a:lnTo>
                <a:lnTo>
                  <a:pt x="3833324" y="1373"/>
                </a:lnTo>
                <a:lnTo>
                  <a:pt x="3841554" y="1869"/>
                </a:lnTo>
                <a:lnTo>
                  <a:pt x="3849862" y="1984"/>
                </a:lnTo>
                <a:lnTo>
                  <a:pt x="3858183" y="2410"/>
                </a:lnTo>
                <a:lnTo>
                  <a:pt x="3866486" y="2043"/>
                </a:lnTo>
                <a:lnTo>
                  <a:pt x="3874767" y="1966"/>
                </a:lnTo>
                <a:lnTo>
                  <a:pt x="3883084" y="1947"/>
                </a:lnTo>
                <a:lnTo>
                  <a:pt x="3891382" y="2212"/>
                </a:lnTo>
                <a:lnTo>
                  <a:pt x="3899655" y="2527"/>
                </a:lnTo>
                <a:lnTo>
                  <a:pt x="3907959" y="2730"/>
                </a:lnTo>
                <a:lnTo>
                  <a:pt x="3916260" y="2838"/>
                </a:lnTo>
                <a:lnTo>
                  <a:pt x="3924538" y="2635"/>
                </a:lnTo>
                <a:lnTo>
                  <a:pt x="3932882" y="2477"/>
                </a:lnTo>
                <a:lnTo>
                  <a:pt x="3941134" y="2052"/>
                </a:lnTo>
                <a:lnTo>
                  <a:pt x="3949450" y="1897"/>
                </a:lnTo>
                <a:lnTo>
                  <a:pt x="3957804" y="1937"/>
                </a:lnTo>
                <a:lnTo>
                  <a:pt x="3966004" y="2217"/>
                </a:lnTo>
                <a:lnTo>
                  <a:pt x="3974384" y="2051"/>
                </a:lnTo>
                <a:lnTo>
                  <a:pt x="3982655" y="1128"/>
                </a:lnTo>
                <a:lnTo>
                  <a:pt x="3990963" y="518"/>
                </a:lnTo>
                <a:lnTo>
                  <a:pt x="3999248" y="0"/>
                </a:lnTo>
                <a:lnTo>
                  <a:pt x="4007542" y="1"/>
                </a:lnTo>
                <a:lnTo>
                  <a:pt x="4015849" y="418"/>
                </a:lnTo>
                <a:lnTo>
                  <a:pt x="4024151" y="1050"/>
                </a:lnTo>
                <a:lnTo>
                  <a:pt x="4032422" y="1641"/>
                </a:lnTo>
                <a:lnTo>
                  <a:pt x="4040692" y="1925"/>
                </a:lnTo>
                <a:lnTo>
                  <a:pt x="4049021" y="2047"/>
                </a:lnTo>
                <a:lnTo>
                  <a:pt x="4057308" y="2294"/>
                </a:lnTo>
                <a:lnTo>
                  <a:pt x="4065565" y="2171"/>
                </a:lnTo>
                <a:lnTo>
                  <a:pt x="4073943" y="2478"/>
                </a:lnTo>
                <a:lnTo>
                  <a:pt x="4082219" y="2449"/>
                </a:lnTo>
                <a:lnTo>
                  <a:pt x="4090527" y="2051"/>
                </a:lnTo>
                <a:lnTo>
                  <a:pt x="4098777" y="1676"/>
                </a:lnTo>
                <a:lnTo>
                  <a:pt x="4107089" y="1267"/>
                </a:lnTo>
                <a:lnTo>
                  <a:pt x="4115389" y="992"/>
                </a:lnTo>
                <a:lnTo>
                  <a:pt x="4123685" y="934"/>
                </a:lnTo>
                <a:lnTo>
                  <a:pt x="4131990" y="1118"/>
                </a:lnTo>
                <a:lnTo>
                  <a:pt x="4140202" y="1583"/>
                </a:lnTo>
                <a:lnTo>
                  <a:pt x="4148567" y="1946"/>
                </a:lnTo>
                <a:lnTo>
                  <a:pt x="4156838" y="2035"/>
                </a:lnTo>
                <a:lnTo>
                  <a:pt x="4165145" y="1854"/>
                </a:lnTo>
                <a:lnTo>
                  <a:pt x="4173525" y="1643"/>
                </a:lnTo>
                <a:lnTo>
                  <a:pt x="4181782" y="1651"/>
                </a:lnTo>
                <a:lnTo>
                  <a:pt x="4190068" y="1845"/>
                </a:lnTo>
                <a:lnTo>
                  <a:pt x="4198376" y="1932"/>
                </a:lnTo>
                <a:lnTo>
                  <a:pt x="4206633" y="1787"/>
                </a:lnTo>
                <a:lnTo>
                  <a:pt x="4214971" y="1676"/>
                </a:lnTo>
                <a:lnTo>
                  <a:pt x="4223241" y="1694"/>
                </a:lnTo>
                <a:lnTo>
                  <a:pt x="4231564" y="1897"/>
                </a:lnTo>
                <a:lnTo>
                  <a:pt x="4239853" y="2969"/>
                </a:lnTo>
              </a:path>
            </a:pathLst>
          </a:custGeom>
          <a:noFill/>
          <a:ln w="15240">
            <a:solidFill>
              <a:srgbClr val="4DE0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-166">
            <a:extLst>
              <a:ext uri="{FF2B5EF4-FFF2-40B4-BE49-F238E27FC236}">
                <a16:creationId xmlns:a16="http://schemas.microsoft.com/office/drawing/2014/main" id="{2E387B7C-915A-438C-88BB-B38B7545CAC2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424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A4B"/>
                </a:solidFill>
                <a:latin typeface="Noto Sans CJK SC"/>
                <a:ea typeface="Noto Sans CJK SC"/>
                <a:cs typeface="Noto Sans CJK SC"/>
              </a:rPr>
              <a:t>断裂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18BD1AA-FF24-4824-BAC8-99F4468A81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827" b="40218"/>
          <a:stretch/>
        </p:blipFill>
        <p:spPr>
          <a:xfrm>
            <a:off x="609600" y="4772025"/>
            <a:ext cx="4248150" cy="847725"/>
          </a:xfrm>
          <a:prstGeom prst="rect">
            <a:avLst/>
          </a:prstGeom>
        </p:spPr>
      </p:pic>
      <p:sp>
        <p:nvSpPr>
          <p:cNvPr id="16" name="curve-167">
            <a:extLst>
              <a:ext uri="{FF2B5EF4-FFF2-40B4-BE49-F238E27FC236}">
                <a16:creationId xmlns:a16="http://schemas.microsoft.com/office/drawing/2014/main" id="{26C95164-7880-4468-8CF0-69B77B61271F}"/>
              </a:ext>
            </a:extLst>
          </p:cNvPr>
          <p:cNvSpPr>
            <a:spLocks noGrp="1"/>
          </p:cNvSpPr>
          <p:nvPr/>
        </p:nvSpPr>
        <p:spPr>
          <a:xfrm>
            <a:off x="609600" y="5195119"/>
            <a:ext cx="1028848" cy="9525"/>
          </a:xfrm>
          <a:custGeom>
            <a:avLst/>
            <a:gdLst/>
            <a:ahLst/>
            <a:cxnLst/>
            <a:rect l="0" t="0" r="0" b="0"/>
            <a:pathLst>
              <a:path w="1028848" h="9525">
                <a:moveTo>
                  <a:pt x="0" y="984"/>
                </a:moveTo>
                <a:lnTo>
                  <a:pt x="8298" y="503"/>
                </a:lnTo>
                <a:lnTo>
                  <a:pt x="16593" y="1051"/>
                </a:lnTo>
                <a:lnTo>
                  <a:pt x="24890" y="1102"/>
                </a:lnTo>
                <a:lnTo>
                  <a:pt x="33193" y="1065"/>
                </a:lnTo>
                <a:lnTo>
                  <a:pt x="41480" y="847"/>
                </a:lnTo>
                <a:lnTo>
                  <a:pt x="49765" y="551"/>
                </a:lnTo>
                <a:lnTo>
                  <a:pt x="58080" y="348"/>
                </a:lnTo>
                <a:lnTo>
                  <a:pt x="66375" y="337"/>
                </a:lnTo>
                <a:lnTo>
                  <a:pt x="74670" y="503"/>
                </a:lnTo>
                <a:lnTo>
                  <a:pt x="82988" y="667"/>
                </a:lnTo>
                <a:lnTo>
                  <a:pt x="91268" y="740"/>
                </a:lnTo>
                <a:lnTo>
                  <a:pt x="99569" y="696"/>
                </a:lnTo>
                <a:lnTo>
                  <a:pt x="107853" y="579"/>
                </a:lnTo>
                <a:lnTo>
                  <a:pt x="116163" y="422"/>
                </a:lnTo>
                <a:lnTo>
                  <a:pt x="124457" y="299"/>
                </a:lnTo>
                <a:lnTo>
                  <a:pt x="132752" y="304"/>
                </a:lnTo>
                <a:lnTo>
                  <a:pt x="141058" y="346"/>
                </a:lnTo>
                <a:lnTo>
                  <a:pt x="149349" y="368"/>
                </a:lnTo>
                <a:lnTo>
                  <a:pt x="157644" y="344"/>
                </a:lnTo>
                <a:lnTo>
                  <a:pt x="165946" y="364"/>
                </a:lnTo>
                <a:lnTo>
                  <a:pt x="174232" y="530"/>
                </a:lnTo>
                <a:lnTo>
                  <a:pt x="182537" y="829"/>
                </a:lnTo>
                <a:lnTo>
                  <a:pt x="190837" y="1094"/>
                </a:lnTo>
                <a:lnTo>
                  <a:pt x="199128" y="1192"/>
                </a:lnTo>
                <a:lnTo>
                  <a:pt x="207432" y="1131"/>
                </a:lnTo>
                <a:lnTo>
                  <a:pt x="215726" y="1048"/>
                </a:lnTo>
                <a:lnTo>
                  <a:pt x="224015" y="1040"/>
                </a:lnTo>
                <a:lnTo>
                  <a:pt x="232321" y="1218"/>
                </a:lnTo>
                <a:lnTo>
                  <a:pt x="240618" y="1271"/>
                </a:lnTo>
                <a:lnTo>
                  <a:pt x="248930" y="1197"/>
                </a:lnTo>
                <a:lnTo>
                  <a:pt x="257203" y="991"/>
                </a:lnTo>
                <a:lnTo>
                  <a:pt x="265513" y="790"/>
                </a:lnTo>
                <a:lnTo>
                  <a:pt x="273806" y="691"/>
                </a:lnTo>
                <a:lnTo>
                  <a:pt x="282104" y="778"/>
                </a:lnTo>
                <a:lnTo>
                  <a:pt x="290404" y="969"/>
                </a:lnTo>
                <a:lnTo>
                  <a:pt x="298690" y="1165"/>
                </a:lnTo>
                <a:lnTo>
                  <a:pt x="306977" y="1329"/>
                </a:lnTo>
                <a:lnTo>
                  <a:pt x="315290" y="1428"/>
                </a:lnTo>
                <a:lnTo>
                  <a:pt x="323591" y="1366"/>
                </a:lnTo>
                <a:lnTo>
                  <a:pt x="331890" y="1150"/>
                </a:lnTo>
                <a:lnTo>
                  <a:pt x="340178" y="869"/>
                </a:lnTo>
                <a:lnTo>
                  <a:pt x="348479" y="651"/>
                </a:lnTo>
                <a:lnTo>
                  <a:pt x="356770" y="590"/>
                </a:lnTo>
                <a:lnTo>
                  <a:pt x="365088" y="615"/>
                </a:lnTo>
                <a:lnTo>
                  <a:pt x="373376" y="578"/>
                </a:lnTo>
                <a:lnTo>
                  <a:pt x="381670" y="426"/>
                </a:lnTo>
                <a:lnTo>
                  <a:pt x="389968" y="292"/>
                </a:lnTo>
                <a:lnTo>
                  <a:pt x="398265" y="277"/>
                </a:lnTo>
                <a:lnTo>
                  <a:pt x="406563" y="356"/>
                </a:lnTo>
                <a:lnTo>
                  <a:pt x="414860" y="467"/>
                </a:lnTo>
                <a:lnTo>
                  <a:pt x="423155" y="549"/>
                </a:lnTo>
                <a:lnTo>
                  <a:pt x="431453" y="581"/>
                </a:lnTo>
                <a:lnTo>
                  <a:pt x="439748" y="603"/>
                </a:lnTo>
                <a:lnTo>
                  <a:pt x="448046" y="625"/>
                </a:lnTo>
                <a:lnTo>
                  <a:pt x="456344" y="683"/>
                </a:lnTo>
                <a:lnTo>
                  <a:pt x="464634" y="812"/>
                </a:lnTo>
                <a:lnTo>
                  <a:pt x="472943" y="955"/>
                </a:lnTo>
                <a:lnTo>
                  <a:pt x="481233" y="1101"/>
                </a:lnTo>
                <a:lnTo>
                  <a:pt x="489532" y="1134"/>
                </a:lnTo>
                <a:lnTo>
                  <a:pt x="497822" y="1009"/>
                </a:lnTo>
                <a:lnTo>
                  <a:pt x="506142" y="789"/>
                </a:lnTo>
                <a:lnTo>
                  <a:pt x="514419" y="556"/>
                </a:lnTo>
                <a:lnTo>
                  <a:pt x="522719" y="426"/>
                </a:lnTo>
                <a:lnTo>
                  <a:pt x="531020" y="382"/>
                </a:lnTo>
                <a:lnTo>
                  <a:pt x="539316" y="391"/>
                </a:lnTo>
                <a:lnTo>
                  <a:pt x="547614" y="474"/>
                </a:lnTo>
                <a:lnTo>
                  <a:pt x="555910" y="657"/>
                </a:lnTo>
                <a:lnTo>
                  <a:pt x="564206" y="827"/>
                </a:lnTo>
                <a:lnTo>
                  <a:pt x="572507" y="849"/>
                </a:lnTo>
                <a:lnTo>
                  <a:pt x="580808" y="823"/>
                </a:lnTo>
                <a:lnTo>
                  <a:pt x="589108" y="905"/>
                </a:lnTo>
                <a:lnTo>
                  <a:pt x="597391" y="1085"/>
                </a:lnTo>
                <a:lnTo>
                  <a:pt x="605700" y="1181"/>
                </a:lnTo>
                <a:lnTo>
                  <a:pt x="613995" y="1100"/>
                </a:lnTo>
                <a:lnTo>
                  <a:pt x="622291" y="850"/>
                </a:lnTo>
                <a:lnTo>
                  <a:pt x="630580" y="655"/>
                </a:lnTo>
                <a:lnTo>
                  <a:pt x="638885" y="595"/>
                </a:lnTo>
                <a:lnTo>
                  <a:pt x="647180" y="657"/>
                </a:lnTo>
                <a:lnTo>
                  <a:pt x="655472" y="803"/>
                </a:lnTo>
                <a:lnTo>
                  <a:pt x="663776" y="924"/>
                </a:lnTo>
                <a:lnTo>
                  <a:pt x="672065" y="937"/>
                </a:lnTo>
                <a:lnTo>
                  <a:pt x="680366" y="783"/>
                </a:lnTo>
                <a:lnTo>
                  <a:pt x="688658" y="527"/>
                </a:lnTo>
                <a:lnTo>
                  <a:pt x="696949" y="431"/>
                </a:lnTo>
                <a:lnTo>
                  <a:pt x="705250" y="576"/>
                </a:lnTo>
                <a:lnTo>
                  <a:pt x="713564" y="860"/>
                </a:lnTo>
                <a:lnTo>
                  <a:pt x="721851" y="1039"/>
                </a:lnTo>
                <a:lnTo>
                  <a:pt x="730150" y="999"/>
                </a:lnTo>
                <a:lnTo>
                  <a:pt x="738453" y="842"/>
                </a:lnTo>
                <a:lnTo>
                  <a:pt x="746750" y="691"/>
                </a:lnTo>
                <a:lnTo>
                  <a:pt x="755045" y="593"/>
                </a:lnTo>
                <a:lnTo>
                  <a:pt x="763331" y="617"/>
                </a:lnTo>
                <a:lnTo>
                  <a:pt x="771634" y="729"/>
                </a:lnTo>
                <a:lnTo>
                  <a:pt x="779931" y="880"/>
                </a:lnTo>
                <a:lnTo>
                  <a:pt x="788228" y="970"/>
                </a:lnTo>
                <a:lnTo>
                  <a:pt x="796529" y="1011"/>
                </a:lnTo>
                <a:lnTo>
                  <a:pt x="804820" y="969"/>
                </a:lnTo>
                <a:lnTo>
                  <a:pt x="813109" y="799"/>
                </a:lnTo>
                <a:lnTo>
                  <a:pt x="821413" y="585"/>
                </a:lnTo>
                <a:lnTo>
                  <a:pt x="829703" y="551"/>
                </a:lnTo>
                <a:lnTo>
                  <a:pt x="838002" y="711"/>
                </a:lnTo>
                <a:lnTo>
                  <a:pt x="846314" y="909"/>
                </a:lnTo>
                <a:lnTo>
                  <a:pt x="854609" y="980"/>
                </a:lnTo>
                <a:lnTo>
                  <a:pt x="862907" y="942"/>
                </a:lnTo>
                <a:lnTo>
                  <a:pt x="871201" y="909"/>
                </a:lnTo>
                <a:lnTo>
                  <a:pt x="879504" y="914"/>
                </a:lnTo>
                <a:lnTo>
                  <a:pt x="887795" y="899"/>
                </a:lnTo>
                <a:lnTo>
                  <a:pt x="896097" y="858"/>
                </a:lnTo>
                <a:lnTo>
                  <a:pt x="904378" y="751"/>
                </a:lnTo>
                <a:lnTo>
                  <a:pt x="912697" y="591"/>
                </a:lnTo>
                <a:lnTo>
                  <a:pt x="920980" y="420"/>
                </a:lnTo>
                <a:lnTo>
                  <a:pt x="929282" y="379"/>
                </a:lnTo>
                <a:lnTo>
                  <a:pt x="937578" y="506"/>
                </a:lnTo>
                <a:lnTo>
                  <a:pt x="945875" y="724"/>
                </a:lnTo>
                <a:lnTo>
                  <a:pt x="954169" y="886"/>
                </a:lnTo>
                <a:lnTo>
                  <a:pt x="962471" y="887"/>
                </a:lnTo>
                <a:lnTo>
                  <a:pt x="970785" y="774"/>
                </a:lnTo>
                <a:lnTo>
                  <a:pt x="979059" y="693"/>
                </a:lnTo>
                <a:lnTo>
                  <a:pt x="987364" y="727"/>
                </a:lnTo>
                <a:lnTo>
                  <a:pt x="995662" y="822"/>
                </a:lnTo>
                <a:lnTo>
                  <a:pt x="1003959" y="857"/>
                </a:lnTo>
                <a:lnTo>
                  <a:pt x="1012250" y="582"/>
                </a:lnTo>
                <a:lnTo>
                  <a:pt x="1020538" y="0"/>
                </a:lnTo>
                <a:lnTo>
                  <a:pt x="1028848" y="389"/>
                </a:lnTo>
              </a:path>
            </a:pathLst>
          </a:custGeom>
          <a:noFill/>
          <a:ln w="15240">
            <a:solidFill>
              <a:srgbClr val="4DE0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curve-168">
            <a:extLst>
              <a:ext uri="{FF2B5EF4-FFF2-40B4-BE49-F238E27FC236}">
                <a16:creationId xmlns:a16="http://schemas.microsoft.com/office/drawing/2014/main" id="{97D3BA4C-677D-4029-8C30-4975F36B69F9}"/>
              </a:ext>
            </a:extLst>
          </p:cNvPr>
          <p:cNvSpPr>
            <a:spLocks noGrp="1"/>
          </p:cNvSpPr>
          <p:nvPr/>
        </p:nvSpPr>
        <p:spPr>
          <a:xfrm>
            <a:off x="1854266" y="5195411"/>
            <a:ext cx="1360589" cy="9525"/>
          </a:xfrm>
          <a:custGeom>
            <a:avLst/>
            <a:gdLst/>
            <a:ahLst/>
            <a:cxnLst/>
            <a:rect l="0" t="0" r="0" b="0"/>
            <a:pathLst>
              <a:path w="1360589" h="9525">
                <a:moveTo>
                  <a:pt x="0" y="2492"/>
                </a:moveTo>
                <a:lnTo>
                  <a:pt x="8194" y="171"/>
                </a:lnTo>
                <a:lnTo>
                  <a:pt x="16510" y="629"/>
                </a:lnTo>
                <a:lnTo>
                  <a:pt x="24799" y="96"/>
                </a:lnTo>
                <a:lnTo>
                  <a:pt x="33087" y="161"/>
                </a:lnTo>
                <a:lnTo>
                  <a:pt x="41397" y="299"/>
                </a:lnTo>
                <a:lnTo>
                  <a:pt x="49687" y="452"/>
                </a:lnTo>
                <a:lnTo>
                  <a:pt x="57982" y="435"/>
                </a:lnTo>
                <a:lnTo>
                  <a:pt x="66290" y="310"/>
                </a:lnTo>
                <a:lnTo>
                  <a:pt x="74594" y="149"/>
                </a:lnTo>
                <a:lnTo>
                  <a:pt x="82885" y="126"/>
                </a:lnTo>
                <a:lnTo>
                  <a:pt x="91171" y="293"/>
                </a:lnTo>
                <a:lnTo>
                  <a:pt x="99479" y="526"/>
                </a:lnTo>
                <a:lnTo>
                  <a:pt x="107776" y="639"/>
                </a:lnTo>
                <a:lnTo>
                  <a:pt x="116071" y="741"/>
                </a:lnTo>
                <a:lnTo>
                  <a:pt x="124353" y="642"/>
                </a:lnTo>
                <a:lnTo>
                  <a:pt x="132670" y="512"/>
                </a:lnTo>
                <a:lnTo>
                  <a:pt x="140959" y="408"/>
                </a:lnTo>
                <a:lnTo>
                  <a:pt x="149252" y="475"/>
                </a:lnTo>
                <a:lnTo>
                  <a:pt x="157554" y="568"/>
                </a:lnTo>
                <a:lnTo>
                  <a:pt x="165838" y="507"/>
                </a:lnTo>
                <a:lnTo>
                  <a:pt x="174170" y="374"/>
                </a:lnTo>
                <a:lnTo>
                  <a:pt x="182444" y="251"/>
                </a:lnTo>
                <a:lnTo>
                  <a:pt x="190745" y="235"/>
                </a:lnTo>
                <a:lnTo>
                  <a:pt x="199047" y="320"/>
                </a:lnTo>
                <a:lnTo>
                  <a:pt x="207340" y="477"/>
                </a:lnTo>
                <a:lnTo>
                  <a:pt x="215638" y="639"/>
                </a:lnTo>
                <a:lnTo>
                  <a:pt x="223933" y="727"/>
                </a:lnTo>
                <a:lnTo>
                  <a:pt x="232232" y="744"/>
                </a:lnTo>
                <a:lnTo>
                  <a:pt x="240526" y="738"/>
                </a:lnTo>
                <a:lnTo>
                  <a:pt x="248824" y="703"/>
                </a:lnTo>
                <a:lnTo>
                  <a:pt x="257118" y="596"/>
                </a:lnTo>
                <a:lnTo>
                  <a:pt x="265420" y="512"/>
                </a:lnTo>
                <a:lnTo>
                  <a:pt x="273715" y="513"/>
                </a:lnTo>
                <a:lnTo>
                  <a:pt x="282013" y="571"/>
                </a:lnTo>
                <a:lnTo>
                  <a:pt x="290306" y="559"/>
                </a:lnTo>
                <a:lnTo>
                  <a:pt x="298604" y="462"/>
                </a:lnTo>
                <a:lnTo>
                  <a:pt x="306903" y="346"/>
                </a:lnTo>
                <a:lnTo>
                  <a:pt x="315200" y="272"/>
                </a:lnTo>
                <a:lnTo>
                  <a:pt x="323492" y="248"/>
                </a:lnTo>
                <a:lnTo>
                  <a:pt x="331801" y="256"/>
                </a:lnTo>
                <a:lnTo>
                  <a:pt x="340097" y="306"/>
                </a:lnTo>
                <a:lnTo>
                  <a:pt x="348391" y="341"/>
                </a:lnTo>
                <a:lnTo>
                  <a:pt x="356683" y="316"/>
                </a:lnTo>
                <a:lnTo>
                  <a:pt x="364993" y="299"/>
                </a:lnTo>
                <a:lnTo>
                  <a:pt x="373281" y="368"/>
                </a:lnTo>
                <a:lnTo>
                  <a:pt x="381580" y="607"/>
                </a:lnTo>
                <a:lnTo>
                  <a:pt x="389871" y="924"/>
                </a:lnTo>
                <a:lnTo>
                  <a:pt x="398167" y="1076"/>
                </a:lnTo>
                <a:lnTo>
                  <a:pt x="406469" y="1022"/>
                </a:lnTo>
                <a:lnTo>
                  <a:pt x="414768" y="779"/>
                </a:lnTo>
                <a:lnTo>
                  <a:pt x="423059" y="471"/>
                </a:lnTo>
                <a:lnTo>
                  <a:pt x="431357" y="260"/>
                </a:lnTo>
                <a:lnTo>
                  <a:pt x="439658" y="200"/>
                </a:lnTo>
                <a:lnTo>
                  <a:pt x="447956" y="236"/>
                </a:lnTo>
                <a:lnTo>
                  <a:pt x="456254" y="291"/>
                </a:lnTo>
                <a:lnTo>
                  <a:pt x="464549" y="344"/>
                </a:lnTo>
                <a:lnTo>
                  <a:pt x="472846" y="380"/>
                </a:lnTo>
                <a:lnTo>
                  <a:pt x="481144" y="413"/>
                </a:lnTo>
                <a:lnTo>
                  <a:pt x="489444" y="457"/>
                </a:lnTo>
                <a:lnTo>
                  <a:pt x="497735" y="461"/>
                </a:lnTo>
                <a:lnTo>
                  <a:pt x="506037" y="368"/>
                </a:lnTo>
                <a:lnTo>
                  <a:pt x="514332" y="254"/>
                </a:lnTo>
                <a:lnTo>
                  <a:pt x="522630" y="212"/>
                </a:lnTo>
                <a:lnTo>
                  <a:pt x="530926" y="270"/>
                </a:lnTo>
                <a:lnTo>
                  <a:pt x="539221" y="133"/>
                </a:lnTo>
                <a:lnTo>
                  <a:pt x="547523" y="76"/>
                </a:lnTo>
                <a:lnTo>
                  <a:pt x="555826" y="153"/>
                </a:lnTo>
                <a:lnTo>
                  <a:pt x="564122" y="311"/>
                </a:lnTo>
                <a:lnTo>
                  <a:pt x="572416" y="467"/>
                </a:lnTo>
                <a:lnTo>
                  <a:pt x="580714" y="582"/>
                </a:lnTo>
                <a:lnTo>
                  <a:pt x="589005" y="729"/>
                </a:lnTo>
                <a:lnTo>
                  <a:pt x="597329" y="821"/>
                </a:lnTo>
                <a:lnTo>
                  <a:pt x="605601" y="835"/>
                </a:lnTo>
                <a:lnTo>
                  <a:pt x="613901" y="635"/>
                </a:lnTo>
                <a:lnTo>
                  <a:pt x="622195" y="435"/>
                </a:lnTo>
                <a:lnTo>
                  <a:pt x="630493" y="323"/>
                </a:lnTo>
                <a:lnTo>
                  <a:pt x="638788" y="290"/>
                </a:lnTo>
                <a:lnTo>
                  <a:pt x="647087" y="269"/>
                </a:lnTo>
                <a:lnTo>
                  <a:pt x="655384" y="319"/>
                </a:lnTo>
                <a:lnTo>
                  <a:pt x="663681" y="303"/>
                </a:lnTo>
                <a:lnTo>
                  <a:pt x="671982" y="319"/>
                </a:lnTo>
                <a:lnTo>
                  <a:pt x="680283" y="291"/>
                </a:lnTo>
                <a:lnTo>
                  <a:pt x="688573" y="198"/>
                </a:lnTo>
                <a:lnTo>
                  <a:pt x="696871" y="126"/>
                </a:lnTo>
                <a:lnTo>
                  <a:pt x="705167" y="155"/>
                </a:lnTo>
                <a:lnTo>
                  <a:pt x="713467" y="228"/>
                </a:lnTo>
                <a:lnTo>
                  <a:pt x="721756" y="247"/>
                </a:lnTo>
                <a:lnTo>
                  <a:pt x="730060" y="191"/>
                </a:lnTo>
                <a:lnTo>
                  <a:pt x="738358" y="146"/>
                </a:lnTo>
                <a:lnTo>
                  <a:pt x="746655" y="168"/>
                </a:lnTo>
                <a:lnTo>
                  <a:pt x="754952" y="246"/>
                </a:lnTo>
                <a:lnTo>
                  <a:pt x="763246" y="297"/>
                </a:lnTo>
                <a:lnTo>
                  <a:pt x="771548" y="314"/>
                </a:lnTo>
                <a:lnTo>
                  <a:pt x="779844" y="382"/>
                </a:lnTo>
                <a:lnTo>
                  <a:pt x="788144" y="502"/>
                </a:lnTo>
                <a:lnTo>
                  <a:pt x="796437" y="541"/>
                </a:lnTo>
                <a:lnTo>
                  <a:pt x="804731" y="441"/>
                </a:lnTo>
                <a:lnTo>
                  <a:pt x="813032" y="309"/>
                </a:lnTo>
                <a:lnTo>
                  <a:pt x="821329" y="253"/>
                </a:lnTo>
                <a:lnTo>
                  <a:pt x="829627" y="291"/>
                </a:lnTo>
                <a:lnTo>
                  <a:pt x="837926" y="389"/>
                </a:lnTo>
                <a:lnTo>
                  <a:pt x="846218" y="572"/>
                </a:lnTo>
                <a:lnTo>
                  <a:pt x="854519" y="792"/>
                </a:lnTo>
                <a:lnTo>
                  <a:pt x="862819" y="884"/>
                </a:lnTo>
                <a:lnTo>
                  <a:pt x="871112" y="776"/>
                </a:lnTo>
                <a:lnTo>
                  <a:pt x="879407" y="521"/>
                </a:lnTo>
                <a:lnTo>
                  <a:pt x="887709" y="302"/>
                </a:lnTo>
                <a:lnTo>
                  <a:pt x="896001" y="167"/>
                </a:lnTo>
                <a:lnTo>
                  <a:pt x="904301" y="122"/>
                </a:lnTo>
                <a:lnTo>
                  <a:pt x="912600" y="138"/>
                </a:lnTo>
                <a:lnTo>
                  <a:pt x="920900" y="253"/>
                </a:lnTo>
                <a:lnTo>
                  <a:pt x="929197" y="445"/>
                </a:lnTo>
                <a:lnTo>
                  <a:pt x="937494" y="683"/>
                </a:lnTo>
                <a:lnTo>
                  <a:pt x="945791" y="876"/>
                </a:lnTo>
                <a:lnTo>
                  <a:pt x="954084" y="947"/>
                </a:lnTo>
                <a:lnTo>
                  <a:pt x="962384" y="865"/>
                </a:lnTo>
                <a:lnTo>
                  <a:pt x="970666" y="596"/>
                </a:lnTo>
                <a:lnTo>
                  <a:pt x="978970" y="275"/>
                </a:lnTo>
                <a:lnTo>
                  <a:pt x="987268" y="89"/>
                </a:lnTo>
                <a:lnTo>
                  <a:pt x="995571" y="110"/>
                </a:lnTo>
                <a:lnTo>
                  <a:pt x="1003864" y="252"/>
                </a:lnTo>
                <a:lnTo>
                  <a:pt x="1012158" y="384"/>
                </a:lnTo>
                <a:lnTo>
                  <a:pt x="1020453" y="429"/>
                </a:lnTo>
                <a:lnTo>
                  <a:pt x="1028752" y="373"/>
                </a:lnTo>
                <a:lnTo>
                  <a:pt x="1037054" y="292"/>
                </a:lnTo>
                <a:lnTo>
                  <a:pt x="1045353" y="316"/>
                </a:lnTo>
                <a:lnTo>
                  <a:pt x="1053645" y="470"/>
                </a:lnTo>
                <a:lnTo>
                  <a:pt x="1061951" y="642"/>
                </a:lnTo>
                <a:lnTo>
                  <a:pt x="1070242" y="725"/>
                </a:lnTo>
                <a:lnTo>
                  <a:pt x="1078544" y="733"/>
                </a:lnTo>
                <a:lnTo>
                  <a:pt x="1086841" y="683"/>
                </a:lnTo>
                <a:lnTo>
                  <a:pt x="1095120" y="475"/>
                </a:lnTo>
                <a:lnTo>
                  <a:pt x="1103425" y="187"/>
                </a:lnTo>
                <a:lnTo>
                  <a:pt x="1111730" y="0"/>
                </a:lnTo>
                <a:lnTo>
                  <a:pt x="1120034" y="8"/>
                </a:lnTo>
                <a:lnTo>
                  <a:pt x="1128312" y="214"/>
                </a:lnTo>
                <a:lnTo>
                  <a:pt x="1136625" y="426"/>
                </a:lnTo>
                <a:lnTo>
                  <a:pt x="1144918" y="574"/>
                </a:lnTo>
                <a:lnTo>
                  <a:pt x="1153213" y="660"/>
                </a:lnTo>
                <a:lnTo>
                  <a:pt x="1161511" y="728"/>
                </a:lnTo>
                <a:lnTo>
                  <a:pt x="1169809" y="762"/>
                </a:lnTo>
                <a:lnTo>
                  <a:pt x="1178100" y="677"/>
                </a:lnTo>
                <a:lnTo>
                  <a:pt x="1186403" y="504"/>
                </a:lnTo>
                <a:lnTo>
                  <a:pt x="1194699" y="373"/>
                </a:lnTo>
                <a:lnTo>
                  <a:pt x="1202994" y="413"/>
                </a:lnTo>
                <a:lnTo>
                  <a:pt x="1211303" y="533"/>
                </a:lnTo>
                <a:lnTo>
                  <a:pt x="1219598" y="636"/>
                </a:lnTo>
                <a:lnTo>
                  <a:pt x="1227888" y="700"/>
                </a:lnTo>
                <a:lnTo>
                  <a:pt x="1236186" y="737"/>
                </a:lnTo>
                <a:lnTo>
                  <a:pt x="1244482" y="703"/>
                </a:lnTo>
                <a:lnTo>
                  <a:pt x="1252782" y="568"/>
                </a:lnTo>
                <a:lnTo>
                  <a:pt x="1261080" y="406"/>
                </a:lnTo>
                <a:lnTo>
                  <a:pt x="1269375" y="334"/>
                </a:lnTo>
                <a:lnTo>
                  <a:pt x="1277672" y="312"/>
                </a:lnTo>
                <a:lnTo>
                  <a:pt x="1285970" y="278"/>
                </a:lnTo>
                <a:lnTo>
                  <a:pt x="1294259" y="338"/>
                </a:lnTo>
                <a:lnTo>
                  <a:pt x="1302569" y="491"/>
                </a:lnTo>
                <a:lnTo>
                  <a:pt x="1310868" y="619"/>
                </a:lnTo>
                <a:lnTo>
                  <a:pt x="1319160" y="635"/>
                </a:lnTo>
                <a:lnTo>
                  <a:pt x="1327459" y="580"/>
                </a:lnTo>
                <a:lnTo>
                  <a:pt x="1335752" y="577"/>
                </a:lnTo>
                <a:lnTo>
                  <a:pt x="1344055" y="115"/>
                </a:lnTo>
                <a:lnTo>
                  <a:pt x="1352334" y="1021"/>
                </a:lnTo>
                <a:lnTo>
                  <a:pt x="1360589" y="2222"/>
                </a:lnTo>
              </a:path>
            </a:pathLst>
          </a:custGeom>
          <a:noFill/>
          <a:ln w="15240">
            <a:solidFill>
              <a:srgbClr val="4DE0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curve-169">
            <a:extLst>
              <a:ext uri="{FF2B5EF4-FFF2-40B4-BE49-F238E27FC236}">
                <a16:creationId xmlns:a16="http://schemas.microsoft.com/office/drawing/2014/main" id="{364D58F8-4CDB-4183-9E07-4CC3D5F8B781}"/>
              </a:ext>
            </a:extLst>
          </p:cNvPr>
          <p:cNvSpPr>
            <a:spLocks noGrp="1"/>
          </p:cNvSpPr>
          <p:nvPr/>
        </p:nvSpPr>
        <p:spPr>
          <a:xfrm>
            <a:off x="3472279" y="5195083"/>
            <a:ext cx="1377174" cy="9525"/>
          </a:xfrm>
          <a:custGeom>
            <a:avLst/>
            <a:gdLst/>
            <a:ahLst/>
            <a:cxnLst/>
            <a:rect l="0" t="0" r="0" b="0"/>
            <a:pathLst>
              <a:path w="1377174" h="9525">
                <a:moveTo>
                  <a:pt x="0" y="3524"/>
                </a:moveTo>
                <a:lnTo>
                  <a:pt x="8119" y="454"/>
                </a:lnTo>
                <a:lnTo>
                  <a:pt x="16443" y="939"/>
                </a:lnTo>
                <a:lnTo>
                  <a:pt x="24736" y="762"/>
                </a:lnTo>
                <a:lnTo>
                  <a:pt x="33032" y="786"/>
                </a:lnTo>
                <a:lnTo>
                  <a:pt x="41329" y="807"/>
                </a:lnTo>
                <a:lnTo>
                  <a:pt x="49619" y="771"/>
                </a:lnTo>
                <a:lnTo>
                  <a:pt x="57937" y="717"/>
                </a:lnTo>
                <a:lnTo>
                  <a:pt x="66221" y="704"/>
                </a:lnTo>
                <a:lnTo>
                  <a:pt x="74519" y="752"/>
                </a:lnTo>
                <a:lnTo>
                  <a:pt x="82817" y="786"/>
                </a:lnTo>
                <a:lnTo>
                  <a:pt x="91112" y="710"/>
                </a:lnTo>
                <a:lnTo>
                  <a:pt x="99397" y="547"/>
                </a:lnTo>
                <a:lnTo>
                  <a:pt x="107706" y="376"/>
                </a:lnTo>
                <a:lnTo>
                  <a:pt x="115995" y="333"/>
                </a:lnTo>
                <a:lnTo>
                  <a:pt x="124296" y="433"/>
                </a:lnTo>
                <a:lnTo>
                  <a:pt x="132598" y="531"/>
                </a:lnTo>
                <a:lnTo>
                  <a:pt x="140895" y="542"/>
                </a:lnTo>
                <a:lnTo>
                  <a:pt x="149184" y="476"/>
                </a:lnTo>
                <a:lnTo>
                  <a:pt x="157494" y="478"/>
                </a:lnTo>
                <a:lnTo>
                  <a:pt x="165784" y="555"/>
                </a:lnTo>
                <a:lnTo>
                  <a:pt x="174102" y="655"/>
                </a:lnTo>
                <a:lnTo>
                  <a:pt x="182383" y="677"/>
                </a:lnTo>
                <a:lnTo>
                  <a:pt x="190679" y="556"/>
                </a:lnTo>
                <a:lnTo>
                  <a:pt x="198972" y="405"/>
                </a:lnTo>
                <a:lnTo>
                  <a:pt x="207273" y="355"/>
                </a:lnTo>
                <a:lnTo>
                  <a:pt x="215566" y="415"/>
                </a:lnTo>
                <a:lnTo>
                  <a:pt x="223870" y="497"/>
                </a:lnTo>
                <a:lnTo>
                  <a:pt x="232160" y="454"/>
                </a:lnTo>
                <a:lnTo>
                  <a:pt x="240461" y="346"/>
                </a:lnTo>
                <a:lnTo>
                  <a:pt x="248759" y="293"/>
                </a:lnTo>
                <a:lnTo>
                  <a:pt x="257052" y="365"/>
                </a:lnTo>
                <a:lnTo>
                  <a:pt x="265342" y="555"/>
                </a:lnTo>
                <a:lnTo>
                  <a:pt x="273648" y="752"/>
                </a:lnTo>
                <a:lnTo>
                  <a:pt x="281951" y="860"/>
                </a:lnTo>
                <a:lnTo>
                  <a:pt x="290222" y="851"/>
                </a:lnTo>
                <a:lnTo>
                  <a:pt x="298547" y="794"/>
                </a:lnTo>
                <a:lnTo>
                  <a:pt x="306834" y="720"/>
                </a:lnTo>
                <a:lnTo>
                  <a:pt x="315134" y="732"/>
                </a:lnTo>
                <a:lnTo>
                  <a:pt x="323443" y="861"/>
                </a:lnTo>
                <a:lnTo>
                  <a:pt x="331731" y="1037"/>
                </a:lnTo>
                <a:lnTo>
                  <a:pt x="340022" y="986"/>
                </a:lnTo>
                <a:lnTo>
                  <a:pt x="348320" y="860"/>
                </a:lnTo>
                <a:lnTo>
                  <a:pt x="356618" y="689"/>
                </a:lnTo>
                <a:lnTo>
                  <a:pt x="364919" y="593"/>
                </a:lnTo>
                <a:lnTo>
                  <a:pt x="373212" y="622"/>
                </a:lnTo>
                <a:lnTo>
                  <a:pt x="381510" y="746"/>
                </a:lnTo>
                <a:lnTo>
                  <a:pt x="389809" y="899"/>
                </a:lnTo>
                <a:lnTo>
                  <a:pt x="398108" y="966"/>
                </a:lnTo>
                <a:lnTo>
                  <a:pt x="406400" y="911"/>
                </a:lnTo>
                <a:lnTo>
                  <a:pt x="414688" y="736"/>
                </a:lnTo>
                <a:lnTo>
                  <a:pt x="423012" y="529"/>
                </a:lnTo>
                <a:lnTo>
                  <a:pt x="431297" y="421"/>
                </a:lnTo>
                <a:lnTo>
                  <a:pt x="439597" y="441"/>
                </a:lnTo>
                <a:lnTo>
                  <a:pt x="447892" y="519"/>
                </a:lnTo>
                <a:lnTo>
                  <a:pt x="456188" y="628"/>
                </a:lnTo>
                <a:lnTo>
                  <a:pt x="464495" y="775"/>
                </a:lnTo>
                <a:lnTo>
                  <a:pt x="472784" y="863"/>
                </a:lnTo>
                <a:lnTo>
                  <a:pt x="481080" y="825"/>
                </a:lnTo>
                <a:lnTo>
                  <a:pt x="489380" y="751"/>
                </a:lnTo>
                <a:lnTo>
                  <a:pt x="497675" y="725"/>
                </a:lnTo>
                <a:lnTo>
                  <a:pt x="505971" y="741"/>
                </a:lnTo>
                <a:lnTo>
                  <a:pt x="514267" y="745"/>
                </a:lnTo>
                <a:lnTo>
                  <a:pt x="522560" y="734"/>
                </a:lnTo>
                <a:lnTo>
                  <a:pt x="530863" y="837"/>
                </a:lnTo>
                <a:lnTo>
                  <a:pt x="539167" y="1040"/>
                </a:lnTo>
                <a:lnTo>
                  <a:pt x="547456" y="1242"/>
                </a:lnTo>
                <a:lnTo>
                  <a:pt x="555753" y="1310"/>
                </a:lnTo>
                <a:lnTo>
                  <a:pt x="564049" y="1227"/>
                </a:lnTo>
                <a:lnTo>
                  <a:pt x="572349" y="1131"/>
                </a:lnTo>
                <a:lnTo>
                  <a:pt x="580645" y="1006"/>
                </a:lnTo>
                <a:lnTo>
                  <a:pt x="588942" y="831"/>
                </a:lnTo>
                <a:lnTo>
                  <a:pt x="597241" y="693"/>
                </a:lnTo>
                <a:lnTo>
                  <a:pt x="605537" y="631"/>
                </a:lnTo>
                <a:lnTo>
                  <a:pt x="613837" y="674"/>
                </a:lnTo>
                <a:lnTo>
                  <a:pt x="622129" y="737"/>
                </a:lnTo>
                <a:lnTo>
                  <a:pt x="630429" y="768"/>
                </a:lnTo>
                <a:lnTo>
                  <a:pt x="638728" y="771"/>
                </a:lnTo>
                <a:lnTo>
                  <a:pt x="647025" y="723"/>
                </a:lnTo>
                <a:lnTo>
                  <a:pt x="655323" y="642"/>
                </a:lnTo>
                <a:lnTo>
                  <a:pt x="663620" y="562"/>
                </a:lnTo>
                <a:lnTo>
                  <a:pt x="671914" y="526"/>
                </a:lnTo>
                <a:lnTo>
                  <a:pt x="680208" y="622"/>
                </a:lnTo>
                <a:lnTo>
                  <a:pt x="688506" y="822"/>
                </a:lnTo>
                <a:lnTo>
                  <a:pt x="696793" y="975"/>
                </a:lnTo>
                <a:lnTo>
                  <a:pt x="705113" y="1100"/>
                </a:lnTo>
                <a:lnTo>
                  <a:pt x="713402" y="1211"/>
                </a:lnTo>
                <a:lnTo>
                  <a:pt x="721702" y="1294"/>
                </a:lnTo>
                <a:lnTo>
                  <a:pt x="729992" y="1288"/>
                </a:lnTo>
                <a:lnTo>
                  <a:pt x="738290" y="1154"/>
                </a:lnTo>
                <a:lnTo>
                  <a:pt x="746584" y="1048"/>
                </a:lnTo>
                <a:lnTo>
                  <a:pt x="754893" y="962"/>
                </a:lnTo>
                <a:lnTo>
                  <a:pt x="763183" y="913"/>
                </a:lnTo>
                <a:lnTo>
                  <a:pt x="771481" y="821"/>
                </a:lnTo>
                <a:lnTo>
                  <a:pt x="779772" y="843"/>
                </a:lnTo>
                <a:lnTo>
                  <a:pt x="788075" y="882"/>
                </a:lnTo>
                <a:lnTo>
                  <a:pt x="796373" y="817"/>
                </a:lnTo>
                <a:lnTo>
                  <a:pt x="804682" y="620"/>
                </a:lnTo>
                <a:lnTo>
                  <a:pt x="812962" y="391"/>
                </a:lnTo>
                <a:lnTo>
                  <a:pt x="821269" y="289"/>
                </a:lnTo>
                <a:lnTo>
                  <a:pt x="829565" y="258"/>
                </a:lnTo>
                <a:lnTo>
                  <a:pt x="837856" y="370"/>
                </a:lnTo>
                <a:lnTo>
                  <a:pt x="846156" y="512"/>
                </a:lnTo>
                <a:lnTo>
                  <a:pt x="854451" y="592"/>
                </a:lnTo>
                <a:lnTo>
                  <a:pt x="862748" y="558"/>
                </a:lnTo>
                <a:lnTo>
                  <a:pt x="871045" y="534"/>
                </a:lnTo>
                <a:lnTo>
                  <a:pt x="879344" y="607"/>
                </a:lnTo>
                <a:lnTo>
                  <a:pt x="887645" y="750"/>
                </a:lnTo>
                <a:lnTo>
                  <a:pt x="895938" y="887"/>
                </a:lnTo>
                <a:lnTo>
                  <a:pt x="904235" y="977"/>
                </a:lnTo>
                <a:lnTo>
                  <a:pt x="912536" y="1043"/>
                </a:lnTo>
                <a:lnTo>
                  <a:pt x="920830" y="1044"/>
                </a:lnTo>
                <a:lnTo>
                  <a:pt x="929123" y="936"/>
                </a:lnTo>
                <a:lnTo>
                  <a:pt x="937415" y="722"/>
                </a:lnTo>
                <a:lnTo>
                  <a:pt x="945719" y="522"/>
                </a:lnTo>
                <a:lnTo>
                  <a:pt x="954019" y="411"/>
                </a:lnTo>
                <a:lnTo>
                  <a:pt x="962299" y="474"/>
                </a:lnTo>
                <a:lnTo>
                  <a:pt x="970616" y="616"/>
                </a:lnTo>
                <a:lnTo>
                  <a:pt x="978904" y="831"/>
                </a:lnTo>
                <a:lnTo>
                  <a:pt x="987202" y="994"/>
                </a:lnTo>
                <a:lnTo>
                  <a:pt x="995505" y="1036"/>
                </a:lnTo>
                <a:lnTo>
                  <a:pt x="1003804" y="939"/>
                </a:lnTo>
                <a:lnTo>
                  <a:pt x="1012098" y="843"/>
                </a:lnTo>
                <a:lnTo>
                  <a:pt x="1020398" y="859"/>
                </a:lnTo>
                <a:lnTo>
                  <a:pt x="1028696" y="960"/>
                </a:lnTo>
                <a:lnTo>
                  <a:pt x="1036987" y="1073"/>
                </a:lnTo>
                <a:lnTo>
                  <a:pt x="1045286" y="1147"/>
                </a:lnTo>
                <a:lnTo>
                  <a:pt x="1053584" y="1185"/>
                </a:lnTo>
                <a:lnTo>
                  <a:pt x="1061876" y="1144"/>
                </a:lnTo>
                <a:lnTo>
                  <a:pt x="1070183" y="1054"/>
                </a:lnTo>
                <a:lnTo>
                  <a:pt x="1078471" y="878"/>
                </a:lnTo>
                <a:lnTo>
                  <a:pt x="1086770" y="792"/>
                </a:lnTo>
                <a:lnTo>
                  <a:pt x="1095081" y="840"/>
                </a:lnTo>
                <a:lnTo>
                  <a:pt x="1103356" y="932"/>
                </a:lnTo>
                <a:lnTo>
                  <a:pt x="1111673" y="872"/>
                </a:lnTo>
                <a:lnTo>
                  <a:pt x="1119969" y="594"/>
                </a:lnTo>
                <a:lnTo>
                  <a:pt x="1128261" y="232"/>
                </a:lnTo>
                <a:lnTo>
                  <a:pt x="1136560" y="14"/>
                </a:lnTo>
                <a:lnTo>
                  <a:pt x="1144855" y="0"/>
                </a:lnTo>
                <a:lnTo>
                  <a:pt x="1153154" y="181"/>
                </a:lnTo>
                <a:lnTo>
                  <a:pt x="1161453" y="466"/>
                </a:lnTo>
                <a:lnTo>
                  <a:pt x="1169744" y="725"/>
                </a:lnTo>
                <a:lnTo>
                  <a:pt x="1178038" y="859"/>
                </a:lnTo>
                <a:lnTo>
                  <a:pt x="1186339" y="903"/>
                </a:lnTo>
                <a:lnTo>
                  <a:pt x="1194636" y="1009"/>
                </a:lnTo>
                <a:lnTo>
                  <a:pt x="1202921" y="1016"/>
                </a:lnTo>
                <a:lnTo>
                  <a:pt x="1211236" y="1097"/>
                </a:lnTo>
                <a:lnTo>
                  <a:pt x="1219530" y="1068"/>
                </a:lnTo>
                <a:lnTo>
                  <a:pt x="1227830" y="882"/>
                </a:lnTo>
                <a:lnTo>
                  <a:pt x="1236117" y="726"/>
                </a:lnTo>
                <a:lnTo>
                  <a:pt x="1244418" y="553"/>
                </a:lnTo>
                <a:lnTo>
                  <a:pt x="1252715" y="436"/>
                </a:lnTo>
                <a:lnTo>
                  <a:pt x="1261012" y="419"/>
                </a:lnTo>
                <a:lnTo>
                  <a:pt x="1269310" y="516"/>
                </a:lnTo>
                <a:lnTo>
                  <a:pt x="1277592" y="705"/>
                </a:lnTo>
                <a:lnTo>
                  <a:pt x="1285903" y="864"/>
                </a:lnTo>
                <a:lnTo>
                  <a:pt x="1294194" y="893"/>
                </a:lnTo>
                <a:lnTo>
                  <a:pt x="1302496" y="801"/>
                </a:lnTo>
                <a:lnTo>
                  <a:pt x="1310803" y="703"/>
                </a:lnTo>
                <a:lnTo>
                  <a:pt x="1319094" y="708"/>
                </a:lnTo>
                <a:lnTo>
                  <a:pt x="1327389" y="790"/>
                </a:lnTo>
                <a:lnTo>
                  <a:pt x="1335688" y="828"/>
                </a:lnTo>
                <a:lnTo>
                  <a:pt x="1343979" y="772"/>
                </a:lnTo>
                <a:lnTo>
                  <a:pt x="1352283" y="710"/>
                </a:lnTo>
                <a:lnTo>
                  <a:pt x="1360575" y="725"/>
                </a:lnTo>
                <a:lnTo>
                  <a:pt x="1368877" y="827"/>
                </a:lnTo>
                <a:lnTo>
                  <a:pt x="1377174" y="1145"/>
                </a:lnTo>
              </a:path>
            </a:pathLst>
          </a:custGeom>
          <a:noFill/>
          <a:ln w="15240">
            <a:solidFill>
              <a:srgbClr val="4DE0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-170">
            <a:extLst>
              <a:ext uri="{FF2B5EF4-FFF2-40B4-BE49-F238E27FC236}">
                <a16:creationId xmlns:a16="http://schemas.microsoft.com/office/drawing/2014/main" id="{950D520D-81F3-4548-BBB7-41561AE476C2}"/>
              </a:ext>
            </a:extLst>
          </p:cNvPr>
          <p:cNvSpPr>
            <a:spLocks noGrp="1"/>
          </p:cNvSpPr>
          <p:nvPr/>
        </p:nvSpPr>
        <p:spPr>
          <a:xfrm>
            <a:off x="609600" y="5895975"/>
            <a:ext cx="4248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青色叠加为算法提取的中心线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E267CA9-1DD1-4ED5-A01D-6684AE3222E6}"/>
              </a:ext>
            </a:extLst>
          </p:cNvPr>
          <p:cNvGraphicFramePr/>
          <p:nvPr/>
        </p:nvGraphicFramePr>
        <p:xfrm>
          <a:off x="5286375" y="1943100"/>
          <a:ext cx="6286500" cy="4095750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</a:t>
                      </a:r>
                    </a:p>
                  </a:txBody>
                  <a:tcPr anchor="ctr">
                    <a:solidFill>
                      <a:srgbClr val="17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RMSE / px</a:t>
                      </a:r>
                    </a:p>
                  </a:txBody>
                  <a:tcPr anchor="ctr">
                    <a:solidFill>
                      <a:srgbClr val="17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有效点</a:t>
                      </a:r>
                    </a:p>
                  </a:txBody>
                  <a:tcPr anchor="ctr">
                    <a:solidFill>
                      <a:srgbClr val="17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均值 / ms</a:t>
                      </a:r>
                    </a:p>
                  </a:txBody>
                  <a:tcPr anchor="ctr">
                    <a:solidFill>
                      <a:srgbClr val="17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普通直线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0.0305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512/512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96.7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曲线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0.0396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512/512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120.4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大曲率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0.1699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512/512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152.7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弱光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0.0696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512/512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100.5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强噪声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0.1051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512/512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101.0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反光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0.1101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512/512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100.5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纯饱和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0.0162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512/512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87.9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单侧干扰 15%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0.0316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512/512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94.0</a:t>
                      </a:r>
                    </a:p>
                  </a:txBody>
                  <a:tcPr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断裂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0.0373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457/512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243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96.1</a:t>
                      </a:r>
                    </a:p>
                  </a:txBody>
                  <a:tcPr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" name="text-171">
            <a:extLst>
              <a:ext uri="{FF2B5EF4-FFF2-40B4-BE49-F238E27FC236}">
                <a16:creationId xmlns:a16="http://schemas.microsoft.com/office/drawing/2014/main" id="{28FB1678-F37B-4C4B-8C8E-B3AAE03C2715}"/>
              </a:ext>
            </a:extLst>
          </p:cNvPr>
          <p:cNvSpPr>
            <a:spLocks noGrp="1"/>
          </p:cNvSpPr>
          <p:nvPr/>
        </p:nvSpPr>
        <p:spPr>
          <a:xfrm>
            <a:off x="5286375" y="6153150"/>
            <a:ext cx="628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2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570"/>
                </a:solidFill>
                <a:latin typeface="Noto Sans CJK SC"/>
                <a:ea typeface="Noto Sans CJK SC"/>
                <a:cs typeface="Noto Sans CJK SC"/>
              </a:rPr>
              <a:t>RMSE 按有效点统计；耗时为保存记录中的中心线处理链路计时</a:t>
            </a:r>
          </a:p>
        </p:txBody>
      </p:sp>
    </p:spTree>
    <p:extLst>
      <p:ext uri="{BB962C8B-B14F-4D97-AF65-F5344CB8AC3E}">
        <p14:creationId xmlns:p14="http://schemas.microsoft.com/office/powerpoint/2010/main" val="18464670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Office PowerPoint</Application>
  <DocSecurity>0</DocSecurity>
  <PresentationFormat>宽屏</PresentationFormat>
  <Paragraphs>179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Noto Sans CJK SC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i12538</cp:lastModifiedBy>
  <cp:revision>1</cp:revision>
  <dcterms:created xsi:type="dcterms:W3CDTF">2026-10-12T08:40:50Z</dcterms:created>
  <dcterms:modified xsi:type="dcterms:W3CDTF">2026-10-13T03:59:42Z</dcterms:modified>
</cp:coreProperties>
</file>